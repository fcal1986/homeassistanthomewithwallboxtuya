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0263B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0263B"/>
                </a:solidFill>
                <a:latin typeface="Calibri"/>
              </a:rPr>
              <a:t>Leistung in kW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PV für Auto verfügbar</c:v>
                </c:pt>
              </c:strCache>
            </c:strRef>
          </c:tx>
          <c:spPr>
            <a:ln w="28575" cap="flat">
              <a:solidFill>
                <a:srgbClr val="E8A80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4.5</c:v>
                </c:pt>
                <c:pt idx="1">
                  <c:v>5.6</c:v>
                </c:pt>
                <c:pt idx="2">
                  <c:v>6.3</c:v>
                </c:pt>
                <c:pt idx="3">
                  <c:v>7</c:v>
                </c:pt>
                <c:pt idx="4">
                  <c:v>7.1</c:v>
                </c:pt>
                <c:pt idx="5">
                  <c:v>7</c:v>
                </c:pt>
                <c:pt idx="6">
                  <c:v>7.2</c:v>
                </c:pt>
                <c:pt idx="7">
                  <c:v>7</c:v>
                </c:pt>
                <c:pt idx="8">
                  <c:v>7.1</c:v>
                </c:pt>
                <c:pt idx="9">
                  <c:v>7</c:v>
                </c:pt>
                <c:pt idx="10">
                  <c:v>7.1</c:v>
                </c:pt>
                <c:pt idx="11">
                  <c:v>7</c:v>
                </c:pt>
                <c:pt idx="12">
                  <c:v>7.1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16-49D2-BA64-9853935A39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AC-Ladeleistung</c:v>
                </c:pt>
              </c:strCache>
            </c:strRef>
          </c:tx>
          <c:spPr>
            <a:ln w="28575" cap="flat">
              <a:solidFill>
                <a:srgbClr val="2E9E5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4.0999999999999996</c:v>
                </c:pt>
                <c:pt idx="1">
                  <c:v>4.0999999999999996</c:v>
                </c:pt>
                <c:pt idx="2">
                  <c:v>5.5</c:v>
                </c:pt>
                <c:pt idx="3">
                  <c:v>6.2</c:v>
                </c:pt>
                <c:pt idx="4">
                  <c:v>6.9</c:v>
                </c:pt>
                <c:pt idx="5">
                  <c:v>6.9</c:v>
                </c:pt>
                <c:pt idx="6">
                  <c:v>6.9</c:v>
                </c:pt>
                <c:pt idx="7">
                  <c:v>6.9</c:v>
                </c:pt>
                <c:pt idx="8">
                  <c:v>6.9</c:v>
                </c:pt>
                <c:pt idx="9">
                  <c:v>5</c:v>
                </c:pt>
                <c:pt idx="10">
                  <c:v>2.8</c:v>
                </c:pt>
                <c:pt idx="11">
                  <c:v>0.9</c:v>
                </c:pt>
                <c:pt idx="1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616-49D2-BA64-9853935A393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Netzfluss (+ Bezug / − Einspeisung)</c:v>
                </c:pt>
              </c:strCache>
            </c:strRef>
          </c:tx>
          <c:spPr>
            <a:ln w="28575" cap="flat">
              <a:solidFill>
                <a:srgbClr val="1F6FB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-0.4</c:v>
                </c:pt>
                <c:pt idx="1">
                  <c:v>-1.5</c:v>
                </c:pt>
                <c:pt idx="2">
                  <c:v>-0.8</c:v>
                </c:pt>
                <c:pt idx="3">
                  <c:v>-0.8</c:v>
                </c:pt>
                <c:pt idx="4">
                  <c:v>-0.2</c:v>
                </c:pt>
                <c:pt idx="5">
                  <c:v>-0.1</c:v>
                </c:pt>
                <c:pt idx="6">
                  <c:v>-0.3</c:v>
                </c:pt>
                <c:pt idx="7">
                  <c:v>-0.1</c:v>
                </c:pt>
                <c:pt idx="8">
                  <c:v>-0.2</c:v>
                </c:pt>
                <c:pt idx="9">
                  <c:v>-2</c:v>
                </c:pt>
                <c:pt idx="10">
                  <c:v>-4.3</c:v>
                </c:pt>
                <c:pt idx="11">
                  <c:v>-6.1</c:v>
                </c:pt>
                <c:pt idx="12">
                  <c:v>-7.1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616-49D2-BA64-9853935A39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-8"/>
        </c:scaling>
        <c:delete val="0"/>
        <c:axPos val="l"/>
        <c:majorGridlines>
          <c:spPr>
            <a:ln w="6350" cap="flat">
              <a:solidFill>
                <a:srgbClr val="E8ED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E2B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0263B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0263B"/>
                </a:solidFill>
                <a:latin typeface="Calibri"/>
              </a:rPr>
              <a:t>Strom in A · Minuten seit Ladebeginn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Zielstrom PV-Regelung</c:v>
                </c:pt>
              </c:strCache>
            </c:strRef>
          </c:tx>
          <c:spPr>
            <a:ln w="28575" cap="flat">
              <a:solidFill>
                <a:srgbClr val="10263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</c:v>
                </c:pt>
                <c:pt idx="1">
                  <c:v>8</c:v>
                </c:pt>
                <c:pt idx="2">
                  <c:v>9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111-4E5E-A9CD-38C587685A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 Wallbox gesetzt</c:v>
                </c:pt>
              </c:strCache>
            </c:strRef>
          </c:tx>
          <c:spPr>
            <a:ln w="28575" cap="flat">
              <a:solidFill>
                <a:srgbClr val="2E9E5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6</c:v>
                </c:pt>
                <c:pt idx="1">
                  <c:v>6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111-4E5E-A9CD-38C587685A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6350" cap="flat">
              <a:solidFill>
                <a:srgbClr val="E8ED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8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E2B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PV</c:v>
                </c:pt>
              </c:strCache>
            </c:strRef>
          </c:tx>
          <c:spPr>
            <a:ln w="19050" cap="flat">
              <a:solidFill>
                <a:srgbClr val="E8A80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4.5</c:v>
                </c:pt>
                <c:pt idx="1">
                  <c:v>5.6</c:v>
                </c:pt>
                <c:pt idx="2">
                  <c:v>6.3</c:v>
                </c:pt>
                <c:pt idx="3">
                  <c:v>7</c:v>
                </c:pt>
                <c:pt idx="4">
                  <c:v>7.1</c:v>
                </c:pt>
                <c:pt idx="5">
                  <c:v>7</c:v>
                </c:pt>
                <c:pt idx="6">
                  <c:v>7.2</c:v>
                </c:pt>
                <c:pt idx="7">
                  <c:v>7</c:v>
                </c:pt>
                <c:pt idx="8">
                  <c:v>7.1</c:v>
                </c:pt>
                <c:pt idx="9">
                  <c:v>7</c:v>
                </c:pt>
                <c:pt idx="10">
                  <c:v>7.1</c:v>
                </c:pt>
                <c:pt idx="11">
                  <c:v>7</c:v>
                </c:pt>
                <c:pt idx="12">
                  <c:v>7.1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5D-4364-9EEA-6A02D86DD8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</c:v>
                </c:pt>
              </c:strCache>
            </c:strRef>
          </c:tx>
          <c:spPr>
            <a:ln w="19050" cap="flat">
              <a:solidFill>
                <a:srgbClr val="2E9E5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4.0999999999999996</c:v>
                </c:pt>
                <c:pt idx="1">
                  <c:v>4.0999999999999996</c:v>
                </c:pt>
                <c:pt idx="2">
                  <c:v>5.5</c:v>
                </c:pt>
                <c:pt idx="3">
                  <c:v>6.2</c:v>
                </c:pt>
                <c:pt idx="4">
                  <c:v>6.9</c:v>
                </c:pt>
                <c:pt idx="5">
                  <c:v>6.9</c:v>
                </c:pt>
                <c:pt idx="6">
                  <c:v>6.9</c:v>
                </c:pt>
                <c:pt idx="7">
                  <c:v>6.9</c:v>
                </c:pt>
                <c:pt idx="8">
                  <c:v>6.9</c:v>
                </c:pt>
                <c:pt idx="9">
                  <c:v>5</c:v>
                </c:pt>
                <c:pt idx="10">
                  <c:v>2.8</c:v>
                </c:pt>
                <c:pt idx="11">
                  <c:v>0.9</c:v>
                </c:pt>
                <c:pt idx="1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A5D-4364-9EEA-6A02D86DD82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Netz</c:v>
                </c:pt>
              </c:strCache>
            </c:strRef>
          </c:tx>
          <c:spPr>
            <a:ln w="19050" cap="flat">
              <a:solidFill>
                <a:srgbClr val="1F6FB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-0.4</c:v>
                </c:pt>
                <c:pt idx="1">
                  <c:v>-1.5</c:v>
                </c:pt>
                <c:pt idx="2">
                  <c:v>-0.8</c:v>
                </c:pt>
                <c:pt idx="3">
                  <c:v>-0.8</c:v>
                </c:pt>
                <c:pt idx="4">
                  <c:v>-0.2</c:v>
                </c:pt>
                <c:pt idx="5">
                  <c:v>-0.1</c:v>
                </c:pt>
                <c:pt idx="6">
                  <c:v>-0.3</c:v>
                </c:pt>
                <c:pt idx="7">
                  <c:v>-0.1</c:v>
                </c:pt>
                <c:pt idx="8">
                  <c:v>-0.2</c:v>
                </c:pt>
                <c:pt idx="9">
                  <c:v>-2</c:v>
                </c:pt>
                <c:pt idx="10">
                  <c:v>-4.3</c:v>
                </c:pt>
                <c:pt idx="11">
                  <c:v>-6.1</c:v>
                </c:pt>
                <c:pt idx="12">
                  <c:v>-7.1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A5D-4364-9EEA-6A02D86DD8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EF1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207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Projektvorstellung: eigene PV-Überschussregelung für eine dreiphasige 11-kW-Tuya-Wallbox mit Home Assistant, Shelly Pro 3EM als Netzmessung und BYD Atto 3 EVO. Grundlage: Wallbox-Package FINAL v3, Dashboard-YAML FINAL v3 und die dokumentierten Lessons Learned.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laut README/Package: dreiphasige 11-kW-Tuya-Wallbox (Integration Tuya EV Charger Local v2.25.0), Shelly Pro 3EM am Netzmesspunkt, PV-Anlage mit SMA-Wechselrichter (laut Dashboard-Entities), Home Assistant, BYD Atto 3 EVO. Das Ziel ist nicht zwingend 0 W Netzbezug.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Anforderungen sind im Package umgesetzt: input_boolean.wallbox_pv_automatik, number-Entities für Start-/Stoppschwelle, script.wallbox_sofortladen, timer.wallbox_pv_pause, Automation "nach Sofortladen", asymmetrische for-Verzögerungen, script.wallbox_regelung_log und input_boolean.wallbox_auto_nimmt_keine_ladung_an.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 Assistant ist die einzige führende PV-Regelinstanz. Messpunkt: sensor.shellypro3em_..._leistung (positiv = Bezug, negativ = Einspeisung). Wallbox-Werte kommen aus der Tuya EV Charger Local Integration. Die Darstellung als lineare Kette ist eine Vereinfachung: physikalisch fließt Energie PV → Hausnetz → Wallbox → Auto, Daten fließen Shelly → HA → Wallbox.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Automation "wallbox_eigene_pv_interne_regelung_aus": Trigger bei PV-Automatik an, bei Einschalten des internen Tuya-Reglers und bei homeassistant start. Zusätzlich warnt die Diagnosekarte im Dashboard rot, falls der interne Regler an 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 sensor "Wallbox PV Zielstrom 3-phasig": floor(verfügbarer Überschuss / 690), begrenzt auf 6–16 A. Die kW-Werte unter der Skala sind 690 W × A (Näherung, reale Spannung schwankt). Die Vergleichsrechnung mit /230 ist eine eigene Ableitung zur Veranschaulichung, nicht aus einem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Zahlenbeispiel aus der Projektdokumentation: PV 8,0 kW, Haus 0,8 kW, Wallbox 5,5 kW, Einspeisung 1,7 kW. Sensor "Wallbox PV Ueberschuss fuer Auto": [0, ev_w - g_w] | max. Hinweis im Package: Näherung ohne Hausakku, Abregelung oder Prognose-Glättung. Die 2,5 A und 10,4 A sind abgeleitete Rechnungen mit /690.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Umgesetzt über Template-Trigger mit for-Bedingung und mode: restart: Start for 00:01:00, Hochregeln 00:01:00, Runterregeln 00:00:30, Stopp 00:02:00. Die Bedingung muss über die gesamte Dauer ununterbrochen erfüllt sein, sonst beginnt die Zeit neu.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 dem Zielstrom-Sensor (Attribut netzanteil_bei_6a_w = 4140 − Überschuss) und der Dashboard-Karte PV-Schwellen: bei Startschwelle &lt; 4140 W wird der mögliche Netzanteil angezeigt. Vorlagen über script.wallbox_schwellen_setzen; script.wallbox_schwelle_anpassen für ±100 W. Die Integration erzwingt Stopp ≤ Start und 0–22.000 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Während der Tests zeigte die BYD-App zeitweise deutlich niedrigere Leistung als die Wallbox. Gegenprobe: PV-Erzeugung − Hausverbrauch = Netzfluss; diese Bilanz stimmte mit Shelly und Zweirichtungszähler überein. Die Balkengrafik links (7 von 10 A) ist ein illustratives Beispiel.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Automationen: wallbox_eigene_pv_start (startet Timer 90 s), wallbox_keine_ladeannahme (timer.finished-Event), wallbox_ladeannahme_erkannt (&gt;300 W für 5 s, Selbstheilung), wallbox_ladeannahme_reset_beim_abstecken. Hintergrund: Der SoC des BYD ist nicht direkt in Home Assistant verfügbar, daher wird das reale Verhalten ausgewertet. Laut Doku real getestet: AC blieb 0 kW, Timer lief ab, Sperre wurde gesetzt.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script.wallbox_regelung_log schreibt pro Aktion: input_text letzte Regelaktion (Zeitstempel + Aktion), input_text letzte Regelwerte und einen logbook.log-Eintrag. Weitere Aktionen im Package: PV hochgeregelt, PV runtergeregelt, PV-Stopp, Sofortladen gestartet, Manueller Stopp, AC-Ladesitzung gestartet/beendet, Ladeannahme wieder erkannt. Die Session-Energie ist in der Folie aus Platzgründen weggelassen. Ablauf entspricht dem in der Doku beschriebenen verifizierten Test; die konkreten Zahlen sind erfunden.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Sensoren: wallbox_ac_ladekurve_leistung, _pv_verfuegbar, _netzfluss, _zielstrom, _sollstrom (state_class measurement, vom Recorder historisiert). Leistung, Ziel- und Sollstrom werden bei inaktiver Ladung auf 0 gesetzt, damit Start und Ende im Diagramm klar sichtbar sind. Dashboard: zwei history-graph-Karten mit 6 Stunden. Die gezeigte Kurve ist schematisch und in sich konsistent gerechnet (Netz = AC − verfügbar), aber nicht gemessen.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Aufbau laut Dashboard-YAML (View "Energie"): Gauge PV-Leistung 0–10 kW, Mushroom-Statuskarte der Wallbox mit drei Kacheln, Sofort laden (Dauer 1/3/6 Std./Bis voll und 6/8/10/13/16 A), PV-Automatik mit Statuskarte, PV-Schwellen mit ±100 W und Vorlagen, AC-Ladekurve als history-graph, Letzte Regelentscheidung + Logbook-Karte, Technik-Kacheln inkl. Kontrolle, dass der interne Tuya-Regler aus ist. Ergänzend: Laden-stoppen-Karte (tippen / gedrückt halten = 2 h PV-Pause). Die Werte sind konsistent gewählt: PV 8,0 kW, Haus inkl. Wallbox 7,7 kW, Einspeisung 0,3 kW → verfügbar 7,2 kW → 10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Nummern entsprechen der Reihenfolge der Lessons Learned. Die Gruppierung in vier Themen ist eine eigene Strukturierung für die Folie.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Offene Punkte laut Doku: automatische Neubewertung der PV-Startbedingungen nach einem HA-Neustart; BYD-SoC ist nicht direkt in HA verfügbar. Die /690-Formel bleibt eine praxisnahe Näherung.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fünf Punkte stammen aus der Vorgabe; die kurzen Erläuterungen darunter sind aus Package/Doku abgeleitet (z. B. offene Neustart-Einschränkung, Lesson zu Logging).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9.png"/><Relationship Id="rId5" Type="http://schemas.openxmlformats.org/officeDocument/2006/relationships/image" Target="../media/image5.png"/><Relationship Id="rId10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7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20.png"/><Relationship Id="rId4" Type="http://schemas.openxmlformats.org/officeDocument/2006/relationships/image" Target="../media/image42.png"/><Relationship Id="rId9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0.png"/><Relationship Id="rId3" Type="http://schemas.openxmlformats.org/officeDocument/2006/relationships/image" Target="../media/image42.png"/><Relationship Id="rId7" Type="http://schemas.openxmlformats.org/officeDocument/2006/relationships/image" Target="../media/image49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41.png"/><Relationship Id="rId5" Type="http://schemas.openxmlformats.org/officeDocument/2006/relationships/image" Target="../media/image46.png"/><Relationship Id="rId10" Type="http://schemas.openxmlformats.org/officeDocument/2006/relationships/chart" Target="../charts/chart3.xml"/><Relationship Id="rId4" Type="http://schemas.openxmlformats.org/officeDocument/2006/relationships/image" Target="../media/image47.png"/><Relationship Id="rId9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3.png"/><Relationship Id="rId4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3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ASSISTANT  ·  SHELLY PRO 3EM  ·  TUYA-WALLBOX  ·  BYD ATTO 3 EVO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PV-Überschussladen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Home Assistant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FD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einfachen Überschussladen zur stabilen 3-phasigen Regelung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498348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1B3A55"/>
          </a:solidFill>
          <a:ln w="9525">
            <a:solidFill>
              <a:srgbClr val="1B3A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5074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3-phasig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532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÷ 690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63240" y="498348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1B3A55"/>
          </a:solidFill>
          <a:ln w="9525">
            <a:solidFill>
              <a:srgbClr val="1B3A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5074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6–16 A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5532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1-A-Schritte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4960" y="498348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1B3A55"/>
          </a:solidFill>
          <a:ln w="9525">
            <a:solidFill>
              <a:srgbClr val="1B3A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77840" y="5074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5532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führende Regelinstanz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26880" y="1234440"/>
            <a:ext cx="960120" cy="960120"/>
          </a:xfrm>
          <a:prstGeom prst="ellipse">
            <a:avLst/>
          </a:prstGeom>
          <a:solidFill>
            <a:srgbClr val="E8A800"/>
          </a:solidFill>
          <a:ln w="6350">
            <a:solidFill>
              <a:srgbClr val="E8A800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8106" y="1445666"/>
            <a:ext cx="537667" cy="537667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595360" y="2240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PV-Überschuss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806940" y="2587752"/>
            <a:ext cx="914" cy="219456"/>
          </a:xfrm>
          <a:prstGeom prst="line">
            <a:avLst/>
          </a:prstGeom>
          <a:noFill/>
          <a:ln w="15875">
            <a:solidFill>
              <a:srgbClr val="9FB3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326880" y="2834640"/>
            <a:ext cx="960120" cy="960120"/>
          </a:xfrm>
          <a:prstGeom prst="ellipse">
            <a:avLst/>
          </a:prstGeom>
          <a:solidFill>
            <a:srgbClr val="1F6FB2"/>
          </a:solidFill>
          <a:ln w="6350">
            <a:solidFill>
              <a:srgbClr val="1F6FB2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8106" y="3045866"/>
            <a:ext cx="537667" cy="537667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595360" y="3840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Assistant regelt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9806940" y="4187952"/>
            <a:ext cx="914" cy="219456"/>
          </a:xfrm>
          <a:prstGeom prst="line">
            <a:avLst/>
          </a:prstGeom>
          <a:noFill/>
          <a:ln w="15875">
            <a:solidFill>
              <a:srgbClr val="9FB3C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326880" y="4434840"/>
            <a:ext cx="960120" cy="960120"/>
          </a:xfrm>
          <a:prstGeom prst="ellipse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8106" y="4646066"/>
            <a:ext cx="537667" cy="537667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595360" y="5440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BYD lädt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AUSGANGSSITUATION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Fünf Komponenten, ein Ziel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PV-Überschussladen mit Home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075688" cy="2697480"/>
          </a:xfrm>
          <a:prstGeom prst="roundRect">
            <a:avLst>
              <a:gd name="adj" fmla="val 5286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6152" y="1965960"/>
            <a:ext cx="731520" cy="731520"/>
          </a:xfrm>
          <a:prstGeom prst="ellipse">
            <a:avLst/>
          </a:prstGeom>
          <a:solidFill>
            <a:srgbClr val="E8A800"/>
          </a:solidFill>
          <a:ln w="6350">
            <a:solidFill>
              <a:srgbClr val="E8A80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086" y="2126894"/>
            <a:ext cx="409651" cy="40965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83464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PV-Anlage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246120"/>
            <a:ext cx="1892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Erzeugt den Überschuss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SMA-Wechselrichter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807208" y="1691640"/>
            <a:ext cx="2075688" cy="2697480"/>
          </a:xfrm>
          <a:prstGeom prst="roundRect">
            <a:avLst>
              <a:gd name="adj" fmla="val 5286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1965960"/>
            <a:ext cx="731520" cy="731520"/>
          </a:xfrm>
          <a:prstGeom prst="ellipse">
            <a:avLst/>
          </a:prstGeom>
          <a:solidFill>
            <a:srgbClr val="1F6FB2"/>
          </a:solidFill>
          <a:ln w="6350">
            <a:solidFill>
              <a:srgbClr val="1F6FB2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654" y="2126894"/>
            <a:ext cx="409651" cy="40965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898648" y="283464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Shelly Pro 3EM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2898648" y="3246120"/>
            <a:ext cx="1892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Misst den Netzfluss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Bezug  /  − Einspeisung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65776" y="1691640"/>
            <a:ext cx="2075688" cy="2697480"/>
          </a:xfrm>
          <a:prstGeom prst="roundRect">
            <a:avLst>
              <a:gd name="adj" fmla="val 5286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33288" y="1965960"/>
            <a:ext cx="731520" cy="731520"/>
          </a:xfrm>
          <a:prstGeom prst="ellipse">
            <a:avLst/>
          </a:prstGeom>
          <a:solidFill>
            <a:srgbClr val="1F6FB2"/>
          </a:solidFill>
          <a:ln w="6350">
            <a:solidFill>
              <a:srgbClr val="1F6FB2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4222" y="2126894"/>
            <a:ext cx="409651" cy="40965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57216" y="283464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Assistant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5157216" y="3246120"/>
            <a:ext cx="1892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Rechnet, entscheidet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protokolliert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324344" y="1691640"/>
            <a:ext cx="2075688" cy="2697480"/>
          </a:xfrm>
          <a:prstGeom prst="roundRect">
            <a:avLst>
              <a:gd name="adj" fmla="val 5286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991856" y="1965960"/>
            <a:ext cx="731520" cy="731520"/>
          </a:xfrm>
          <a:prstGeom prst="ellipse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2790" y="2126894"/>
            <a:ext cx="409651" cy="40965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15784" y="283464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Tuya-Wallbox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7415784" y="3246120"/>
            <a:ext cx="1892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kW, 3-phasig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angebunden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9582912" y="1691640"/>
            <a:ext cx="2075688" cy="2697480"/>
          </a:xfrm>
          <a:prstGeom prst="roundRect">
            <a:avLst>
              <a:gd name="adj" fmla="val 5286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0250424" y="1965960"/>
            <a:ext cx="731520" cy="731520"/>
          </a:xfrm>
          <a:prstGeom prst="ellipse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1358" y="2126894"/>
            <a:ext cx="409651" cy="409651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674352" y="283464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BYD Atto 3 EVO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9674352" y="3246120"/>
            <a:ext cx="1892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Entscheidet selbst über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Leistungsaufnahme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548640" y="475488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FFF4D1"/>
          </a:solidFill>
          <a:ln w="9525">
            <a:solidFill>
              <a:srgbClr val="FFF4D1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68680" y="4983480"/>
            <a:ext cx="777240" cy="777240"/>
          </a:xfrm>
          <a:prstGeom prst="ellipse">
            <a:avLst/>
          </a:prstGeom>
          <a:solidFill>
            <a:srgbClr val="E8A800"/>
          </a:solidFill>
          <a:ln w="6350">
            <a:solidFill>
              <a:srgbClr val="E8A800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9673" y="5154473"/>
            <a:ext cx="435254" cy="43525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920240" y="4919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1920240" y="523036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Möglichst viel PV-Strom ins Auto – kontrollierter Netzbezug bleibt ausdrücklich erlaubt.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die Regelung können muss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PV-Überschussladen mit Home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47872" cy="1298448"/>
          </a:xfrm>
          <a:prstGeom prst="roundRect">
            <a:avLst>
              <a:gd name="adj" fmla="val 8451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75104"/>
            <a:ext cx="640080" cy="640080"/>
          </a:xfrm>
          <a:prstGeom prst="ellipse">
            <a:avLst/>
          </a:prstGeom>
          <a:solidFill>
            <a:srgbClr val="E8A800"/>
          </a:solidFill>
          <a:ln w="6350">
            <a:solidFill>
              <a:srgbClr val="E8A80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2115922"/>
            <a:ext cx="358445" cy="3584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PV-Überschussladen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3042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Laden aus eigenem Solarstrom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15968" y="1645920"/>
            <a:ext cx="3547872" cy="1298448"/>
          </a:xfrm>
          <a:prstGeom prst="roundRect">
            <a:avLst>
              <a:gd name="adj" fmla="val 8451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44568" y="1975104"/>
            <a:ext cx="640080" cy="640080"/>
          </a:xfrm>
          <a:prstGeom prst="ellipse">
            <a:avLst/>
          </a:prstGeom>
          <a:solidFill>
            <a:srgbClr val="E8A800"/>
          </a:solidFill>
          <a:ln w="6350">
            <a:solidFill>
              <a:srgbClr val="E8A80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386" y="2115922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67528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Startschwelle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367528" y="23042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±100 W oder Vorlage im Dashboard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83296" y="1645920"/>
            <a:ext cx="3547872" cy="1298448"/>
          </a:xfrm>
          <a:prstGeom prst="roundRect">
            <a:avLst>
              <a:gd name="adj" fmla="val 8451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11896" y="1975104"/>
            <a:ext cx="640080" cy="640080"/>
          </a:xfrm>
          <a:prstGeom prst="ellipse">
            <a:avLst/>
          </a:prstGeom>
          <a:solidFill>
            <a:srgbClr val="1F6FB2"/>
          </a:solidFill>
          <a:ln w="6350">
            <a:solidFill>
              <a:srgbClr val="1F6FB2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2714" y="2115922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34856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Netzanteil erlaubt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9134856" y="23042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auch unter 4,14 kW möglich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3154680"/>
            <a:ext cx="3547872" cy="1298448"/>
          </a:xfrm>
          <a:prstGeom prst="roundRect">
            <a:avLst>
              <a:gd name="adj" fmla="val 8451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" y="3483864"/>
            <a:ext cx="640080" cy="640080"/>
          </a:xfrm>
          <a:prstGeom prst="ellipse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8" y="3624682"/>
            <a:ext cx="358445" cy="35844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020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Manuelles Sofortladen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1600200" y="3813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 / 6 h oder bis voll · 6–16 A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15968" y="3154680"/>
            <a:ext cx="3547872" cy="1298448"/>
          </a:xfrm>
          <a:prstGeom prst="roundRect">
            <a:avLst>
              <a:gd name="adj" fmla="val 8451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44568" y="3483864"/>
            <a:ext cx="640080" cy="640080"/>
          </a:xfrm>
          <a:prstGeom prst="ellipse">
            <a:avLst/>
          </a:prstGeom>
          <a:solidFill>
            <a:srgbClr val="1F6FB2"/>
          </a:solidFill>
          <a:ln w="6350">
            <a:solidFill>
              <a:srgbClr val="1F6FB2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5386" y="3624682"/>
            <a:ext cx="358445" cy="35844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67528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PV-Pause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5367528" y="3813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 gedrückt halten = 2 h Pause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083296" y="3154680"/>
            <a:ext cx="3547872" cy="1298448"/>
          </a:xfrm>
          <a:prstGeom prst="roundRect">
            <a:avLst>
              <a:gd name="adj" fmla="val 8451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311896" y="3483864"/>
            <a:ext cx="640080" cy="640080"/>
          </a:xfrm>
          <a:prstGeom prst="ellipse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2714" y="3624682"/>
            <a:ext cx="358445" cy="35844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34856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Rückkehr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9134856" y="3813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PV-Regelung übernimmt nach Sofortladen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48640" y="4663440"/>
            <a:ext cx="3547872" cy="1298448"/>
          </a:xfrm>
          <a:prstGeom prst="roundRect">
            <a:avLst>
              <a:gd name="adj" fmla="val 8451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777240" y="4992624"/>
            <a:ext cx="640080" cy="640080"/>
          </a:xfrm>
          <a:prstGeom prst="ellipse">
            <a:avLst/>
          </a:prstGeom>
          <a:solidFill>
            <a:srgbClr val="1F6FB2"/>
          </a:solidFill>
          <a:ln w="6350">
            <a:solidFill>
              <a:srgbClr val="1F6FB2"/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058" y="5133442"/>
            <a:ext cx="358445" cy="358445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600200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Ruhige Regelung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1600200" y="53218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Flattern bei jeder Wolke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4315968" y="4663440"/>
            <a:ext cx="3547872" cy="1298448"/>
          </a:xfrm>
          <a:prstGeom prst="roundRect">
            <a:avLst>
              <a:gd name="adj" fmla="val 8451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4544568" y="4992624"/>
            <a:ext cx="640080" cy="640080"/>
          </a:xfrm>
          <a:prstGeom prst="ellipse">
            <a:avLst/>
          </a:prstGeom>
          <a:solidFill>
            <a:srgbClr val="1F6FB2"/>
          </a:solidFill>
          <a:ln w="6350">
            <a:solidFill>
              <a:srgbClr val="1F6FB2"/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5386" y="5133442"/>
            <a:ext cx="358445" cy="358445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5367528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Diagnose</a:t>
            </a:r>
            <a:endParaRPr lang="en-US" sz="1600" dirty="0"/>
          </a:p>
        </p:txBody>
      </p:sp>
      <p:sp>
        <p:nvSpPr>
          <p:cNvPr id="45" name="Text 35"/>
          <p:cNvSpPr txBox="1"/>
          <p:nvPr/>
        </p:nvSpPr>
        <p:spPr>
          <a:xfrm>
            <a:off x="5367528" y="53218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Regelentscheidung mit Messwerten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8083296" y="4663440"/>
            <a:ext cx="3547872" cy="1298448"/>
          </a:xfrm>
          <a:prstGeom prst="roundRect">
            <a:avLst>
              <a:gd name="adj" fmla="val 8451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8311896" y="4992624"/>
            <a:ext cx="640080" cy="640080"/>
          </a:xfrm>
          <a:prstGeom prst="ellipse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2714" y="5133442"/>
            <a:ext cx="358445" cy="358445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134856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„Auto voll“ erkennen</a:t>
            </a:r>
            <a:endParaRPr lang="en-US" sz="1600" dirty="0"/>
          </a:p>
        </p:txBody>
      </p:sp>
      <p:sp>
        <p:nvSpPr>
          <p:cNvPr id="50" name="Text 39"/>
          <p:cNvSpPr txBox="1"/>
          <p:nvPr/>
        </p:nvSpPr>
        <p:spPr>
          <a:xfrm>
            <a:off x="9134856" y="53218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endlosen Startversuche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ARCHITEKTUR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Sonnenstrom zur Ladeentscheidung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PV-Überschussladen mit Home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481328" cy="1417320"/>
          </a:xfrm>
          <a:prstGeom prst="roundRect">
            <a:avLst>
              <a:gd name="adj" fmla="val 7742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011680"/>
            <a:ext cx="566928" cy="566928"/>
          </a:xfrm>
          <a:prstGeom prst="ellipse">
            <a:avLst/>
          </a:prstGeom>
          <a:solidFill>
            <a:srgbClr val="E8A800"/>
          </a:solidFill>
          <a:ln w="6350">
            <a:solidFill>
              <a:srgbClr val="E8A80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564" y="213640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4360" y="265176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PV-Anlage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92608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Erzeugung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084832" y="2583180"/>
            <a:ext cx="331013" cy="914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1701698" y="1545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70709" y="1874520"/>
            <a:ext cx="1481328" cy="1417320"/>
          </a:xfrm>
          <a:prstGeom prst="roundRect">
            <a:avLst>
              <a:gd name="adj" fmla="val 7742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27909" y="2011680"/>
            <a:ext cx="566928" cy="566928"/>
          </a:xfrm>
          <a:prstGeom prst="ellipse">
            <a:avLst/>
          </a:prstGeom>
          <a:solidFill>
            <a:srgbClr val="10263B"/>
          </a:solidFill>
          <a:ln w="6350">
            <a:solidFill>
              <a:srgbClr val="10263B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2633" y="2136404"/>
            <a:ext cx="317480" cy="3174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516429" y="265176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Hausnetz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2516429" y="292608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Verbraucher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006901" y="2583180"/>
            <a:ext cx="331013" cy="914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9" name="Text 15"/>
          <p:cNvSpPr txBox="1"/>
          <p:nvPr/>
        </p:nvSpPr>
        <p:spPr>
          <a:xfrm>
            <a:off x="3623767" y="1545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misst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392778" y="1874520"/>
            <a:ext cx="1481328" cy="1417320"/>
          </a:xfrm>
          <a:prstGeom prst="roundRect">
            <a:avLst>
              <a:gd name="adj" fmla="val 7742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849978" y="2011680"/>
            <a:ext cx="566928" cy="566928"/>
          </a:xfrm>
          <a:prstGeom prst="ellipse">
            <a:avLst/>
          </a:prstGeom>
          <a:solidFill>
            <a:srgbClr val="1F6FB2"/>
          </a:solidFill>
          <a:ln w="6350">
            <a:solidFill>
              <a:srgbClr val="1F6FB2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702" y="2136404"/>
            <a:ext cx="317480" cy="31748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438498" y="265176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Shelly Pro 3EM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4438498" y="292608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Netzmessung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928970" y="2583180"/>
            <a:ext cx="331013" cy="914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6" name="Text 21"/>
          <p:cNvSpPr txBox="1"/>
          <p:nvPr/>
        </p:nvSpPr>
        <p:spPr>
          <a:xfrm>
            <a:off x="5545836" y="1545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Messwerte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314846" y="1874520"/>
            <a:ext cx="1481328" cy="1417320"/>
          </a:xfrm>
          <a:prstGeom prst="roundRect">
            <a:avLst>
              <a:gd name="adj" fmla="val 7742"/>
            </a:avLst>
          </a:prstGeom>
          <a:solidFill>
            <a:srgbClr val="E3EEF8"/>
          </a:solidFill>
          <a:ln w="19050">
            <a:solidFill>
              <a:srgbClr val="1F6FB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772046" y="2011680"/>
            <a:ext cx="566928" cy="566928"/>
          </a:xfrm>
          <a:prstGeom prst="ellipse">
            <a:avLst/>
          </a:prstGeom>
          <a:solidFill>
            <a:srgbClr val="1F6FB2"/>
          </a:solidFill>
          <a:ln w="6350">
            <a:solidFill>
              <a:srgbClr val="1F6FB2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6771" y="2136404"/>
            <a:ext cx="317480" cy="31748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360566" y="265176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Assistant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6360566" y="292608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Regelinstanz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7851038" y="2583180"/>
            <a:ext cx="331013" cy="914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33" name="Text 27"/>
          <p:cNvSpPr txBox="1"/>
          <p:nvPr/>
        </p:nvSpPr>
        <p:spPr>
          <a:xfrm>
            <a:off x="7467905" y="1545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Sollstrom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8236915" y="1874520"/>
            <a:ext cx="1481328" cy="1417320"/>
          </a:xfrm>
          <a:prstGeom prst="roundRect">
            <a:avLst>
              <a:gd name="adj" fmla="val 7742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8694115" y="2011680"/>
            <a:ext cx="566928" cy="566928"/>
          </a:xfrm>
          <a:prstGeom prst="ellipse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8839" y="2136404"/>
            <a:ext cx="317480" cy="3174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282635" y="265176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Tuya-Wallbox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8282635" y="292608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6–16 A, 3-phasig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9773107" y="2583180"/>
            <a:ext cx="331013" cy="914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40" name="Text 33"/>
          <p:cNvSpPr txBox="1"/>
          <p:nvPr/>
        </p:nvSpPr>
        <p:spPr>
          <a:xfrm>
            <a:off x="9389974" y="1545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 Strom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10158984" y="1874520"/>
            <a:ext cx="1481328" cy="1417320"/>
          </a:xfrm>
          <a:prstGeom prst="roundRect">
            <a:avLst>
              <a:gd name="adj" fmla="val 7742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10616184" y="2011680"/>
            <a:ext cx="566928" cy="566928"/>
          </a:xfrm>
          <a:prstGeom prst="ellipse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0908" y="2136404"/>
            <a:ext cx="317480" cy="31748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10204704" y="265176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BYD Atto 3 EVO</a:t>
            </a:r>
            <a:endParaRPr lang="en-US" sz="1300" dirty="0"/>
          </a:p>
        </p:txBody>
      </p:sp>
      <p:sp>
        <p:nvSpPr>
          <p:cNvPr id="45" name="Text 37"/>
          <p:cNvSpPr txBox="1"/>
          <p:nvPr/>
        </p:nvSpPr>
        <p:spPr>
          <a:xfrm>
            <a:off x="10204704" y="292608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Fahrzeug</a:t>
            </a:r>
            <a:endParaRPr lang="en-US" sz="1050" dirty="0"/>
          </a:p>
        </p:txBody>
      </p:sp>
      <p:sp>
        <p:nvSpPr>
          <p:cNvPr id="46" name="Shape 38"/>
          <p:cNvSpPr/>
          <p:nvPr/>
        </p:nvSpPr>
        <p:spPr>
          <a:xfrm>
            <a:off x="3211373" y="3291840"/>
            <a:ext cx="914" cy="502920"/>
          </a:xfrm>
          <a:prstGeom prst="line">
            <a:avLst/>
          </a:prstGeom>
          <a:noFill/>
          <a:ln w="12700">
            <a:solidFill>
              <a:srgbClr val="1F6FB2"/>
            </a:solidFill>
            <a:prstDash val="dash"/>
          </a:ln>
        </p:spPr>
      </p:sp>
      <p:sp>
        <p:nvSpPr>
          <p:cNvPr id="47" name="Shape 39"/>
          <p:cNvSpPr/>
          <p:nvPr/>
        </p:nvSpPr>
        <p:spPr>
          <a:xfrm>
            <a:off x="548640" y="3794760"/>
            <a:ext cx="3403397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731520" y="3977640"/>
            <a:ext cx="457200" cy="457200"/>
          </a:xfrm>
          <a:prstGeom prst="ellipse">
            <a:avLst/>
          </a:prstGeom>
          <a:solidFill>
            <a:srgbClr val="E3EEF8"/>
          </a:solidFill>
          <a:ln w="6350">
            <a:solidFill>
              <a:srgbClr val="E3EEF8"/>
            </a:solidFill>
            <a:prstDash val="solid"/>
          </a:ln>
        </p:spPr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" y="4078224"/>
            <a:ext cx="256032" cy="256032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1325880" y="4050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Netzanschluss</a:t>
            </a:r>
            <a:endParaRPr lang="en-US" sz="1400" dirty="0"/>
          </a:p>
        </p:txBody>
      </p:sp>
      <p:sp>
        <p:nvSpPr>
          <p:cNvPr id="51" name="Text 42"/>
          <p:cNvSpPr txBox="1"/>
          <p:nvPr/>
        </p:nvSpPr>
        <p:spPr>
          <a:xfrm>
            <a:off x="777240" y="4617720"/>
            <a:ext cx="30376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Wert  = Netzbezug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Wert  = Einspeisung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Vorzeichen des Shelly in diesem Setup</a:t>
            </a:r>
            <a:endParaRPr lang="en-US" sz="1300" dirty="0"/>
          </a:p>
        </p:txBody>
      </p:sp>
      <p:sp>
        <p:nvSpPr>
          <p:cNvPr id="52" name="Shape 43"/>
          <p:cNvSpPr/>
          <p:nvPr/>
        </p:nvSpPr>
        <p:spPr>
          <a:xfrm>
            <a:off x="5133442" y="3291840"/>
            <a:ext cx="914" cy="502920"/>
          </a:xfrm>
          <a:prstGeom prst="line">
            <a:avLst/>
          </a:prstGeom>
          <a:noFill/>
          <a:ln w="12700">
            <a:solidFill>
              <a:srgbClr val="1F6FB2"/>
            </a:solidFill>
            <a:prstDash val="dash"/>
          </a:ln>
        </p:spPr>
      </p:sp>
      <p:sp>
        <p:nvSpPr>
          <p:cNvPr id="53" name="Shape 44"/>
          <p:cNvSpPr/>
          <p:nvPr/>
        </p:nvSpPr>
        <p:spPr>
          <a:xfrm>
            <a:off x="4392778" y="3794760"/>
            <a:ext cx="3403397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4575658" y="3977640"/>
            <a:ext cx="457200" cy="457200"/>
          </a:xfrm>
          <a:prstGeom prst="ellipse">
            <a:avLst/>
          </a:prstGeom>
          <a:solidFill>
            <a:srgbClr val="E3EEF8"/>
          </a:solidFill>
          <a:ln w="6350">
            <a:solidFill>
              <a:srgbClr val="E3EEF8"/>
            </a:solidFill>
            <a:prstDash val="solid"/>
          </a:ln>
        </p:spPr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6242" y="4078224"/>
            <a:ext cx="256032" cy="256032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5170018" y="4050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Messwerte</a:t>
            </a:r>
            <a:endParaRPr lang="en-US" sz="1400" dirty="0"/>
          </a:p>
        </p:txBody>
      </p:sp>
      <p:sp>
        <p:nvSpPr>
          <p:cNvPr id="57" name="Text 47"/>
          <p:cNvSpPr txBox="1"/>
          <p:nvPr/>
        </p:nvSpPr>
        <p:spPr>
          <a:xfrm>
            <a:off x="4621378" y="4617720"/>
            <a:ext cx="30376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Netzleistung (Shelly)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Wallbox-Leistung (AC)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Sollstrom, Session-Energie</a:t>
            </a:r>
            <a:endParaRPr lang="en-US" sz="1300" dirty="0"/>
          </a:p>
        </p:txBody>
      </p:sp>
      <p:sp>
        <p:nvSpPr>
          <p:cNvPr id="58" name="Shape 48"/>
          <p:cNvSpPr/>
          <p:nvPr/>
        </p:nvSpPr>
        <p:spPr>
          <a:xfrm>
            <a:off x="7055510" y="3291840"/>
            <a:ext cx="914" cy="502920"/>
          </a:xfrm>
          <a:prstGeom prst="line">
            <a:avLst/>
          </a:prstGeom>
          <a:noFill/>
          <a:ln w="12700">
            <a:solidFill>
              <a:srgbClr val="1F6FB2"/>
            </a:solidFill>
            <a:prstDash val="dash"/>
          </a:ln>
        </p:spPr>
      </p:sp>
      <p:sp>
        <p:nvSpPr>
          <p:cNvPr id="59" name="Shape 49"/>
          <p:cNvSpPr/>
          <p:nvPr/>
        </p:nvSpPr>
        <p:spPr>
          <a:xfrm>
            <a:off x="8977579" y="3291840"/>
            <a:ext cx="914" cy="502920"/>
          </a:xfrm>
          <a:prstGeom prst="line">
            <a:avLst/>
          </a:prstGeom>
          <a:noFill/>
          <a:ln w="12700">
            <a:solidFill>
              <a:srgbClr val="2E9E5B"/>
            </a:solidFill>
            <a:prstDash val="dash"/>
          </a:ln>
        </p:spPr>
      </p:sp>
      <p:sp>
        <p:nvSpPr>
          <p:cNvPr id="60" name="Shape 50"/>
          <p:cNvSpPr/>
          <p:nvPr/>
        </p:nvSpPr>
        <p:spPr>
          <a:xfrm>
            <a:off x="8236915" y="3794760"/>
            <a:ext cx="3403397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8419795" y="3977640"/>
            <a:ext cx="457200" cy="457200"/>
          </a:xfrm>
          <a:prstGeom prst="ellipse">
            <a:avLst/>
          </a:prstGeom>
          <a:solidFill>
            <a:srgbClr val="E3F4EA"/>
          </a:solidFill>
          <a:ln w="6350">
            <a:solidFill>
              <a:srgbClr val="E3F4EA"/>
            </a:solidFill>
            <a:prstDash val="solid"/>
          </a:ln>
        </p:spPr>
      </p:sp>
      <p:pic>
        <p:nvPicPr>
          <p:cNvPr id="6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0379" y="4078224"/>
            <a:ext cx="256032" cy="256032"/>
          </a:xfrm>
          <a:prstGeom prst="rect">
            <a:avLst/>
          </a:prstGeom>
        </p:spPr>
      </p:pic>
      <p:sp>
        <p:nvSpPr>
          <p:cNvPr id="63" name="Text 52"/>
          <p:cNvSpPr txBox="1"/>
          <p:nvPr/>
        </p:nvSpPr>
        <p:spPr>
          <a:xfrm>
            <a:off x="9014155" y="40507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Regelentscheidungen</a:t>
            </a:r>
            <a:endParaRPr lang="en-US" sz="1400" dirty="0"/>
          </a:p>
        </p:txBody>
      </p:sp>
      <p:sp>
        <p:nvSpPr>
          <p:cNvPr id="64" name="Text 53"/>
          <p:cNvSpPr txBox="1"/>
          <p:nvPr/>
        </p:nvSpPr>
        <p:spPr>
          <a:xfrm>
            <a:off x="8465515" y="4617720"/>
            <a:ext cx="303763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· Hoch · Runter · Stopp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Sollstrom 6–16 A setzen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Sperre „Auto voll“</a:t>
            </a:r>
            <a:endParaRPr lang="en-US" sz="1300" dirty="0"/>
          </a:p>
        </p:txBody>
      </p:sp>
      <p:sp>
        <p:nvSpPr>
          <p:cNvPr id="65" name="Shape 54"/>
          <p:cNvSpPr/>
          <p:nvPr/>
        </p:nvSpPr>
        <p:spPr>
          <a:xfrm>
            <a:off x="548640" y="5989320"/>
            <a:ext cx="7863840" cy="310896"/>
          </a:xfrm>
          <a:prstGeom prst="roundRect">
            <a:avLst>
              <a:gd name="adj" fmla="val 35294"/>
            </a:avLst>
          </a:prstGeom>
          <a:solidFill>
            <a:srgbClr val="F3F6F9"/>
          </a:solidFill>
          <a:ln w="9525">
            <a:solidFill>
              <a:srgbClr val="DDE4EA"/>
            </a:solidFill>
            <a:prstDash val="solid"/>
          </a:ln>
        </p:spPr>
      </p:sp>
      <p:pic>
        <p:nvPicPr>
          <p:cNvPr id="6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" y="6053328"/>
            <a:ext cx="182880" cy="182880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896112" y="5989320"/>
            <a:ext cx="7424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Vereinfachte Darstellung (Interpretation): Energie-, Mess- und Steuerfluss sind in einer Kette zusammengefasst.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ZENTRALE PROBLEM AM ANFANG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Regler – aber nur ein Ladestrom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PV-Überschussladen mit Home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40680" cy="3429000"/>
          </a:xfrm>
          <a:prstGeom prst="roundRect">
            <a:avLst>
              <a:gd name="adj" fmla="val 3200"/>
            </a:avLst>
          </a:prstGeom>
          <a:solidFill>
            <a:srgbClr val="FBE7E5"/>
          </a:solidFill>
          <a:ln w="9525">
            <a:solidFill>
              <a:srgbClr val="FB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C94A3F"/>
          </a:solidFill>
          <a:ln w="6350">
            <a:solidFill>
              <a:srgbClr val="C94A3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1939442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9019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9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Vorher: zwei mögliche Regler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606040"/>
            <a:ext cx="2148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94A3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26060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Tuya-PV-Regler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(intern)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520440" y="2606040"/>
            <a:ext cx="2148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94A3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20440" y="26060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Assistant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938528" y="3401568"/>
            <a:ext cx="1078992" cy="530352"/>
          </a:xfrm>
          <a:prstGeom prst="line">
            <a:avLst/>
          </a:prstGeom>
          <a:noFill/>
          <a:ln w="22225">
            <a:solidFill>
              <a:srgbClr val="C94A3F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 flipH="1">
            <a:off x="3520440" y="3401568"/>
            <a:ext cx="1069848" cy="530352"/>
          </a:xfrm>
          <a:prstGeom prst="line">
            <a:avLst/>
          </a:prstGeom>
          <a:noFill/>
          <a:ln w="22225">
            <a:solidFill>
              <a:srgbClr val="C94A3F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103120" y="3950208"/>
            <a:ext cx="23317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C94A3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103120" y="395020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Ladestrom Wallbox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4617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9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könnten gleichzeitig eingreifen.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199632" y="1645920"/>
            <a:ext cx="5440680" cy="3429000"/>
          </a:xfrm>
          <a:prstGeom prst="roundRect">
            <a:avLst>
              <a:gd name="adj" fmla="val 3200"/>
            </a:avLst>
          </a:prstGeom>
          <a:solidFill>
            <a:srgbClr val="E3F4EA"/>
          </a:solidFill>
          <a:ln w="9525">
            <a:solidFill>
              <a:srgbClr val="E3F4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28232" y="1828800"/>
            <a:ext cx="502920" cy="502920"/>
          </a:xfrm>
          <a:prstGeom prst="ellipse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874" y="1939442"/>
            <a:ext cx="281635" cy="281635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068312" y="1901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Lösung: genau eine führende Instanz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6519672" y="2606040"/>
            <a:ext cx="2148840" cy="777240"/>
          </a:xfrm>
          <a:prstGeom prst="roundRect">
            <a:avLst>
              <a:gd name="adj" fmla="val 14118"/>
            </a:avLst>
          </a:prstGeom>
          <a:solidFill>
            <a:srgbClr val="F0F2F4"/>
          </a:solidFill>
          <a:ln w="9525">
            <a:solidFill>
              <a:srgbClr val="B7C0C8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519672" y="26060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Tuya-PV-Regler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8A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9171432" y="2606040"/>
            <a:ext cx="2148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9050">
            <a:solidFill>
              <a:srgbClr val="2E9E5B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171432" y="26060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Assistant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 flipH="1">
            <a:off x="9326880" y="3401568"/>
            <a:ext cx="914400" cy="530352"/>
          </a:xfrm>
          <a:prstGeom prst="line">
            <a:avLst/>
          </a:prstGeom>
          <a:noFill/>
          <a:ln w="22225">
            <a:solidFill>
              <a:srgbClr val="2E9E5B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7754112" y="3950208"/>
            <a:ext cx="23317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754112" y="395020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Ladestrom Wallbox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6519672" y="4617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Assistant übernimmt vollständig.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548640" y="5303520"/>
            <a:ext cx="6309360" cy="868680"/>
          </a:xfrm>
          <a:prstGeom prst="roundRect">
            <a:avLst>
              <a:gd name="adj" fmla="val 12632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31520" y="5458968"/>
            <a:ext cx="548640" cy="548640"/>
          </a:xfrm>
          <a:prstGeom prst="ellipse">
            <a:avLst/>
          </a:prstGeom>
          <a:solidFill>
            <a:srgbClr val="1F6FB2"/>
          </a:solidFill>
          <a:ln w="6350">
            <a:solidFill>
              <a:srgbClr val="1F6FB2"/>
            </a:solidFill>
            <a:prstDash val="solid"/>
          </a:ln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1" y="5579669"/>
            <a:ext cx="307238" cy="307238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1417320" y="534924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Sicherheitsnetz im Package: </a:t>
            </a: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interner Regler wird automatisch wieder ausgeschaltet – auch nach einem HA-Neustart.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7086600" y="5303520"/>
            <a:ext cx="4553712" cy="868680"/>
          </a:xfrm>
          <a:prstGeom prst="roundRect">
            <a:avLst>
              <a:gd name="adj" fmla="val 12632"/>
            </a:avLst>
          </a:prstGeom>
          <a:solidFill>
            <a:srgbClr val="10263B"/>
          </a:solidFill>
          <a:ln w="9525">
            <a:solidFill>
              <a:srgbClr val="10263B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7269480" y="5394960"/>
            <a:ext cx="4187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switch.tuya_ev_charger_solar_surplus_mode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switch.turn_off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WICHTIGSTER RECHENFEHLER · STROMREGELUNG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3-phasig muss auch 3-phasig gerechnet werden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PV-Überschussladen mit Home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15000" cy="868680"/>
          </a:xfrm>
          <a:prstGeom prst="roundRect">
            <a:avLst>
              <a:gd name="adj" fmla="val 12632"/>
            </a:avLst>
          </a:prstGeom>
          <a:solidFill>
            <a:srgbClr val="FBE7E5"/>
          </a:solidFill>
          <a:ln w="9525">
            <a:solidFill>
              <a:srgbClr val="FB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10512"/>
            <a:ext cx="530352" cy="530352"/>
          </a:xfrm>
          <a:prstGeom prst="ellipse">
            <a:avLst/>
          </a:prstGeom>
          <a:solidFill>
            <a:srgbClr val="C94A3F"/>
          </a:solidFill>
          <a:ln w="6350">
            <a:solidFill>
              <a:srgbClr val="C94A3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97" y="1927189"/>
            <a:ext cx="296997" cy="29699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Ursprünglich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P ÷ 230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3749040" y="1737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rechnet nur mit einer Phase – für 3-phasiges Laden ungeeignet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697480"/>
            <a:ext cx="5715000" cy="1143000"/>
          </a:xfrm>
          <a:prstGeom prst="roundRect">
            <a:avLst>
              <a:gd name="adj" fmla="val 9600"/>
            </a:avLst>
          </a:prstGeom>
          <a:solidFill>
            <a:srgbClr val="E3F4EA"/>
          </a:solidFill>
          <a:ln w="9525">
            <a:solidFill>
              <a:srgbClr val="E3F4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2999232"/>
            <a:ext cx="530352" cy="530352"/>
          </a:xfrm>
          <a:prstGeom prst="ellipse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97" y="3115909"/>
            <a:ext cx="296997" cy="29699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1732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Korrekte Näherung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417320" y="3063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≈ P ÷ (230 V × 3) = </a:t>
            </a:r>
            <a:r>
              <a:rPr lang="en-US" sz="26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÷ 690</a:t>
            </a:r>
            <a:endParaRPr lang="en-US" sz="26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4315968"/>
            <a:ext cx="1691640" cy="731520"/>
          </a:xfrm>
          <a:prstGeom prst="roundRect">
            <a:avLst>
              <a:gd name="adj" fmla="val 15000"/>
            </a:avLst>
          </a:prstGeom>
          <a:solidFill>
            <a:srgbClr val="FFF4D1"/>
          </a:solidFill>
          <a:ln w="9525">
            <a:solidFill>
              <a:srgbClr val="FFF4D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48640" y="431596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6.220 W</a:t>
            </a:r>
            <a:endParaRPr lang="en-US" sz="2600" dirty="0"/>
          </a:p>
        </p:txBody>
      </p:sp>
      <p:sp>
        <p:nvSpPr>
          <p:cNvPr id="20" name="Text 16"/>
          <p:cNvSpPr txBox="1"/>
          <p:nvPr/>
        </p:nvSpPr>
        <p:spPr>
          <a:xfrm>
            <a:off x="2331720" y="4315968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2600" dirty="0"/>
          </a:p>
        </p:txBody>
      </p:sp>
      <p:sp>
        <p:nvSpPr>
          <p:cNvPr id="21" name="Shape 17"/>
          <p:cNvSpPr/>
          <p:nvPr/>
        </p:nvSpPr>
        <p:spPr>
          <a:xfrm>
            <a:off x="2788920" y="4315968"/>
            <a:ext cx="1097280" cy="731520"/>
          </a:xfrm>
          <a:prstGeom prst="roundRect">
            <a:avLst>
              <a:gd name="adj" fmla="val 15000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2788920" y="431596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690</a:t>
            </a:r>
            <a:endParaRPr lang="en-US" sz="2600" dirty="0"/>
          </a:p>
        </p:txBody>
      </p:sp>
      <p:sp>
        <p:nvSpPr>
          <p:cNvPr id="23" name="Text 19"/>
          <p:cNvSpPr txBox="1"/>
          <p:nvPr/>
        </p:nvSpPr>
        <p:spPr>
          <a:xfrm>
            <a:off x="3977640" y="4315968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2600" dirty="0"/>
          </a:p>
        </p:txBody>
      </p:sp>
      <p:sp>
        <p:nvSpPr>
          <p:cNvPr id="24" name="Shape 20"/>
          <p:cNvSpPr/>
          <p:nvPr/>
        </p:nvSpPr>
        <p:spPr>
          <a:xfrm>
            <a:off x="4434840" y="4315968"/>
            <a:ext cx="1097280" cy="731520"/>
          </a:xfrm>
          <a:prstGeom prst="roundRect">
            <a:avLst>
              <a:gd name="adj" fmla="val 15000"/>
            </a:avLst>
          </a:prstGeom>
          <a:solidFill>
            <a:srgbClr val="E3F4EA"/>
          </a:solidFill>
          <a:ln w="9525">
            <a:solidFill>
              <a:srgbClr val="E3F4E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434840" y="431596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</a:t>
            </a:r>
            <a:endParaRPr lang="en-US" sz="2600" dirty="0"/>
          </a:p>
        </p:txBody>
      </p:sp>
      <p:sp>
        <p:nvSpPr>
          <p:cNvPr id="26" name="Shape 22"/>
          <p:cNvSpPr/>
          <p:nvPr/>
        </p:nvSpPr>
        <p:spPr>
          <a:xfrm>
            <a:off x="548640" y="5257800"/>
            <a:ext cx="5715000" cy="868680"/>
          </a:xfrm>
          <a:prstGeom prst="roundRect">
            <a:avLst>
              <a:gd name="adj" fmla="val 12632"/>
            </a:avLst>
          </a:prstGeom>
          <a:solidFill>
            <a:srgbClr val="10263B"/>
          </a:solidFill>
          <a:ln w="9525">
            <a:solidFill>
              <a:srgbClr val="10263B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31520" y="534924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set calc = (s / 690) | int(0) %}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set amp  = [[calc, 6] | max, 16] | min %}</a:t>
            </a:r>
            <a:endParaRPr lang="en-US" sz="1150" dirty="0"/>
          </a:p>
        </p:txBody>
      </p:sp>
      <p:sp>
        <p:nvSpPr>
          <p:cNvPr id="28" name="Text 24"/>
          <p:cNvSpPr txBox="1"/>
          <p:nvPr/>
        </p:nvSpPr>
        <p:spPr>
          <a:xfrm>
            <a:off x="6583680" y="1645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Regelbereich: 6–16 A in 1-A-Schritten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10332720" y="1682496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darunter ≈ kW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583680" y="2103120"/>
            <a:ext cx="420624" cy="603504"/>
          </a:xfrm>
          <a:prstGeom prst="rect">
            <a:avLst/>
          </a:prstGeom>
          <a:solidFill>
            <a:srgbClr val="E3F4EA"/>
          </a:solidFill>
          <a:ln w="28575">
            <a:solidFill>
              <a:srgbClr val="E8A80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583680" y="2103120"/>
            <a:ext cx="420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6565392" y="27614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7040880" y="2103120"/>
            <a:ext cx="420624" cy="603504"/>
          </a:xfrm>
          <a:prstGeom prst="rect">
            <a:avLst/>
          </a:prstGeom>
          <a:solidFill>
            <a:srgbClr val="E3F4EA"/>
          </a:solidFill>
          <a:ln w="6350">
            <a:solidFill>
              <a:srgbClr val="E3F4EA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040880" y="2103120"/>
            <a:ext cx="420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7022592" y="27614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7498080" y="2103120"/>
            <a:ext cx="420624" cy="603504"/>
          </a:xfrm>
          <a:prstGeom prst="rect">
            <a:avLst/>
          </a:prstGeom>
          <a:solidFill>
            <a:srgbClr val="E3F4EA"/>
          </a:solidFill>
          <a:ln w="28575">
            <a:solidFill>
              <a:srgbClr val="E8A80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7498080" y="2103120"/>
            <a:ext cx="420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7479792" y="27614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7955280" y="2103120"/>
            <a:ext cx="420624" cy="603504"/>
          </a:xfrm>
          <a:prstGeom prst="rect">
            <a:avLst/>
          </a:prstGeom>
          <a:solidFill>
            <a:srgbClr val="E3F4EA"/>
          </a:solidFill>
          <a:ln w="6350">
            <a:solidFill>
              <a:srgbClr val="E3F4EA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7955280" y="2103120"/>
            <a:ext cx="420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1" name="Text 37"/>
          <p:cNvSpPr txBox="1"/>
          <p:nvPr/>
        </p:nvSpPr>
        <p:spPr>
          <a:xfrm>
            <a:off x="7936992" y="27614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8412480" y="2103120"/>
            <a:ext cx="420624" cy="603504"/>
          </a:xfrm>
          <a:prstGeom prst="rect">
            <a:avLst/>
          </a:prstGeom>
          <a:solidFill>
            <a:srgbClr val="E3F4EA"/>
          </a:solidFill>
          <a:ln w="28575">
            <a:solidFill>
              <a:srgbClr val="E8A800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8412480" y="2103120"/>
            <a:ext cx="420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4" name="Text 40"/>
          <p:cNvSpPr txBox="1"/>
          <p:nvPr/>
        </p:nvSpPr>
        <p:spPr>
          <a:xfrm>
            <a:off x="8394192" y="27614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8869680" y="2103120"/>
            <a:ext cx="420624" cy="603504"/>
          </a:xfrm>
          <a:prstGeom prst="rect">
            <a:avLst/>
          </a:prstGeom>
          <a:solidFill>
            <a:srgbClr val="E3F4EA"/>
          </a:solidFill>
          <a:ln w="6350">
            <a:solidFill>
              <a:srgbClr val="E3F4EA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8869680" y="2103120"/>
            <a:ext cx="420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7" name="Text 43"/>
          <p:cNvSpPr txBox="1"/>
          <p:nvPr/>
        </p:nvSpPr>
        <p:spPr>
          <a:xfrm>
            <a:off x="8851392" y="27614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9326880" y="2103120"/>
            <a:ext cx="420624" cy="603504"/>
          </a:xfrm>
          <a:prstGeom prst="rect">
            <a:avLst/>
          </a:prstGeom>
          <a:solidFill>
            <a:srgbClr val="E3F4EA"/>
          </a:solidFill>
          <a:ln w="6350">
            <a:solidFill>
              <a:srgbClr val="E3F4EA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9326880" y="2103120"/>
            <a:ext cx="420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50" name="Text 46"/>
          <p:cNvSpPr txBox="1"/>
          <p:nvPr/>
        </p:nvSpPr>
        <p:spPr>
          <a:xfrm>
            <a:off x="9308592" y="27614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</a:t>
            </a:r>
            <a:endParaRPr 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9784080" y="2103120"/>
            <a:ext cx="420624" cy="603504"/>
          </a:xfrm>
          <a:prstGeom prst="rect">
            <a:avLst/>
          </a:prstGeom>
          <a:solidFill>
            <a:srgbClr val="E3F4EA"/>
          </a:solidFill>
          <a:ln w="28575">
            <a:solidFill>
              <a:srgbClr val="E8A800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9784080" y="2103120"/>
            <a:ext cx="420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53" name="Text 49"/>
          <p:cNvSpPr txBox="1"/>
          <p:nvPr/>
        </p:nvSpPr>
        <p:spPr>
          <a:xfrm>
            <a:off x="9765792" y="27614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</a:t>
            </a:r>
            <a:endParaRPr lang="en-US" sz="950" dirty="0"/>
          </a:p>
        </p:txBody>
      </p:sp>
      <p:sp>
        <p:nvSpPr>
          <p:cNvPr id="54" name="Shape 50"/>
          <p:cNvSpPr/>
          <p:nvPr/>
        </p:nvSpPr>
        <p:spPr>
          <a:xfrm>
            <a:off x="10241280" y="2103120"/>
            <a:ext cx="420624" cy="603504"/>
          </a:xfrm>
          <a:prstGeom prst="rect">
            <a:avLst/>
          </a:prstGeom>
          <a:solidFill>
            <a:srgbClr val="E3F4EA"/>
          </a:solidFill>
          <a:ln w="6350">
            <a:solidFill>
              <a:srgbClr val="E3F4EA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10241280" y="2103120"/>
            <a:ext cx="420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00" dirty="0"/>
          </a:p>
        </p:txBody>
      </p:sp>
      <p:sp>
        <p:nvSpPr>
          <p:cNvPr id="56" name="Text 52"/>
          <p:cNvSpPr txBox="1"/>
          <p:nvPr/>
        </p:nvSpPr>
        <p:spPr>
          <a:xfrm>
            <a:off x="10222992" y="27614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</a:t>
            </a:r>
            <a:endParaRPr lang="en-US" sz="950" dirty="0"/>
          </a:p>
        </p:txBody>
      </p:sp>
      <p:sp>
        <p:nvSpPr>
          <p:cNvPr id="57" name="Shape 53"/>
          <p:cNvSpPr/>
          <p:nvPr/>
        </p:nvSpPr>
        <p:spPr>
          <a:xfrm>
            <a:off x="10698480" y="2103120"/>
            <a:ext cx="420624" cy="603504"/>
          </a:xfrm>
          <a:prstGeom prst="rect">
            <a:avLst/>
          </a:prstGeom>
          <a:solidFill>
            <a:srgbClr val="E3F4EA"/>
          </a:solidFill>
          <a:ln w="6350">
            <a:solidFill>
              <a:srgbClr val="E3F4EA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10698480" y="2103120"/>
            <a:ext cx="420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59" name="Text 55"/>
          <p:cNvSpPr txBox="1"/>
          <p:nvPr/>
        </p:nvSpPr>
        <p:spPr>
          <a:xfrm>
            <a:off x="10680192" y="27614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10,3</a:t>
            </a:r>
            <a:endParaRPr lang="en-US" sz="950" dirty="0"/>
          </a:p>
        </p:txBody>
      </p:sp>
      <p:sp>
        <p:nvSpPr>
          <p:cNvPr id="60" name="Shape 56"/>
          <p:cNvSpPr/>
          <p:nvPr/>
        </p:nvSpPr>
        <p:spPr>
          <a:xfrm>
            <a:off x="11155680" y="2103120"/>
            <a:ext cx="420624" cy="603504"/>
          </a:xfrm>
          <a:prstGeom prst="rect">
            <a:avLst/>
          </a:prstGeom>
          <a:solidFill>
            <a:srgbClr val="E3F4EA"/>
          </a:solidFill>
          <a:ln w="28575">
            <a:solidFill>
              <a:srgbClr val="E8A800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11155680" y="2103120"/>
            <a:ext cx="420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500" dirty="0"/>
          </a:p>
        </p:txBody>
      </p:sp>
      <p:sp>
        <p:nvSpPr>
          <p:cNvPr id="62" name="Text 58"/>
          <p:cNvSpPr txBox="1"/>
          <p:nvPr/>
        </p:nvSpPr>
        <p:spPr>
          <a:xfrm>
            <a:off x="11137392" y="27614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</a:t>
            </a:r>
            <a:endParaRPr lang="en-US" sz="950" dirty="0"/>
          </a:p>
        </p:txBody>
      </p:sp>
      <p:sp>
        <p:nvSpPr>
          <p:cNvPr id="63" name="Shape 59"/>
          <p:cNvSpPr/>
          <p:nvPr/>
        </p:nvSpPr>
        <p:spPr>
          <a:xfrm>
            <a:off x="6583680" y="3163824"/>
            <a:ext cx="219456" cy="182880"/>
          </a:xfrm>
          <a:prstGeom prst="rect">
            <a:avLst/>
          </a:prstGeom>
          <a:solidFill>
            <a:srgbClr val="E3F4EA"/>
          </a:solidFill>
          <a:ln w="25400">
            <a:solidFill>
              <a:srgbClr val="E8A800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6876288" y="3127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App-Schnellwahl (DP 107)</a:t>
            </a:r>
            <a:endParaRPr lang="en-US" sz="1100" dirty="0"/>
          </a:p>
        </p:txBody>
      </p:sp>
      <p:sp>
        <p:nvSpPr>
          <p:cNvPr id="65" name="Shape 61"/>
          <p:cNvSpPr/>
          <p:nvPr/>
        </p:nvSpPr>
        <p:spPr>
          <a:xfrm>
            <a:off x="9006840" y="3163824"/>
            <a:ext cx="219456" cy="182880"/>
          </a:xfrm>
          <a:prstGeom prst="rect">
            <a:avLst/>
          </a:prstGeom>
          <a:solidFill>
            <a:srgbClr val="E3F4EA"/>
          </a:solidFill>
          <a:ln w="6350">
            <a:solidFill>
              <a:srgbClr val="E3F4EA"/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9299448" y="3127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Regelung genutzt</a:t>
            </a:r>
            <a:endParaRPr lang="en-US" sz="1100" dirty="0"/>
          </a:p>
        </p:txBody>
      </p:sp>
      <p:sp>
        <p:nvSpPr>
          <p:cNvPr id="67" name="Shape 63"/>
          <p:cNvSpPr/>
          <p:nvPr/>
        </p:nvSpPr>
        <p:spPr>
          <a:xfrm>
            <a:off x="6583680" y="3657600"/>
            <a:ext cx="5056632" cy="1389888"/>
          </a:xfrm>
          <a:prstGeom prst="roundRect">
            <a:avLst>
              <a:gd name="adj" fmla="val 7895"/>
            </a:avLst>
          </a:prstGeom>
          <a:solidFill>
            <a:srgbClr val="FFF4D1"/>
          </a:solidFill>
          <a:ln w="9525">
            <a:solidFill>
              <a:srgbClr val="FFF4D1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6766560" y="3840480"/>
            <a:ext cx="502920" cy="502920"/>
          </a:xfrm>
          <a:prstGeom prst="ellipse">
            <a:avLst/>
          </a:prstGeom>
          <a:solidFill>
            <a:srgbClr val="E8A800"/>
          </a:solidFill>
          <a:ln w="6350">
            <a:solidFill>
              <a:srgbClr val="E8A800"/>
            </a:solidFill>
            <a:prstDash val="solid"/>
          </a:ln>
        </p:spPr>
      </p:sp>
      <p:pic>
        <p:nvPicPr>
          <p:cNvPr id="6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7202" y="3951122"/>
            <a:ext cx="281635" cy="281635"/>
          </a:xfrm>
          <a:prstGeom prst="rect">
            <a:avLst/>
          </a:prstGeom>
        </p:spPr>
      </p:pic>
      <p:sp>
        <p:nvSpPr>
          <p:cNvPr id="70" name="Text 65"/>
          <p:cNvSpPr txBox="1"/>
          <p:nvPr/>
        </p:nvSpPr>
        <p:spPr>
          <a:xfrm>
            <a:off x="7406640" y="3794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 107 = [6, 8, 10, 13, 16]</a:t>
            </a:r>
            <a:endParaRPr lang="en-US" sz="1400" dirty="0"/>
          </a:p>
        </p:txBody>
      </p:sp>
      <p:sp>
        <p:nvSpPr>
          <p:cNvPr id="71" name="Text 66"/>
          <p:cNvSpPr txBox="1"/>
          <p:nvPr/>
        </p:nvSpPr>
        <p:spPr>
          <a:xfrm>
            <a:off x="7406640" y="41605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Schnellwahlwerte der Tuya-App – keine Hardwaregrenze. Die Integration v2.25.0 akzeptiert ganzzahlige Zwischenwerte.</a:t>
            </a:r>
            <a:endParaRPr lang="en-US" sz="1200" dirty="0"/>
          </a:p>
        </p:txBody>
      </p:sp>
      <p:sp>
        <p:nvSpPr>
          <p:cNvPr id="72" name="Shape 67"/>
          <p:cNvSpPr/>
          <p:nvPr/>
        </p:nvSpPr>
        <p:spPr>
          <a:xfrm>
            <a:off x="6583680" y="5257800"/>
            <a:ext cx="5056632" cy="868680"/>
          </a:xfrm>
          <a:prstGeom prst="roundRect">
            <a:avLst>
              <a:gd name="adj" fmla="val 12632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73" name="Text 68"/>
          <p:cNvSpPr txBox="1"/>
          <p:nvPr/>
        </p:nvSpPr>
        <p:spPr>
          <a:xfrm>
            <a:off x="6766560" y="53035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Vergleich mit ÷ 230: </a:t>
            </a:r>
            <a:r>
              <a:rPr lang="en-US" sz="12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6.220 W ÷ 230 ≈ 27 A – rund dreimal zu hoch, würde auf 16 A begrenzt.</a:t>
            </a:r>
            <a:endParaRPr lang="en-US" sz="1200" dirty="0"/>
          </a:p>
        </p:txBody>
      </p:sp>
      <p:sp>
        <p:nvSpPr>
          <p:cNvPr id="74" name="Text 69"/>
          <p:cNvSpPr txBox="1"/>
          <p:nvPr/>
        </p:nvSpPr>
        <p:spPr>
          <a:xfrm>
            <a:off x="6766560" y="57881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Vergleichsrechnung (Interpretation)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VERFÜGBARER PV-ÜBERSCHUSS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eigene Ladeleistung darf die Regelung nicht bremsen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PV-Überschussladen mit Home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Momentaufnahme · PV-Erzeugung 8,0 kW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658368" cy="640080"/>
          </a:xfrm>
          <a:prstGeom prst="rect">
            <a:avLst/>
          </a:prstGeom>
          <a:solidFill>
            <a:srgbClr val="B7C0C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57400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 kW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74320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07008" y="2057400"/>
            <a:ext cx="4526280" cy="640080"/>
          </a:xfrm>
          <a:prstGeom prst="rect">
            <a:avLst/>
          </a:prstGeom>
          <a:solidFill>
            <a:srgbClr val="2E9E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07008" y="205740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 kW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274320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Wallbox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33288" y="2057400"/>
            <a:ext cx="1399032" cy="640080"/>
          </a:xfrm>
          <a:prstGeom prst="rect">
            <a:avLst/>
          </a:prstGeom>
          <a:solidFill>
            <a:srgbClr val="E8A8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33288" y="205740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 kW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550408" y="2743200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Einspeisung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6583680" cy="1143000"/>
          </a:xfrm>
          <a:prstGeom prst="roundRect">
            <a:avLst>
              <a:gd name="adj" fmla="val 9600"/>
            </a:avLst>
          </a:prstGeom>
          <a:solidFill>
            <a:srgbClr val="FBE7E5"/>
          </a:solidFill>
          <a:ln w="9525">
            <a:solidFill>
              <a:srgbClr val="FBE7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547872"/>
            <a:ext cx="530352" cy="530352"/>
          </a:xfrm>
          <a:prstGeom prst="ellipse">
            <a:avLst/>
          </a:prstGeom>
          <a:solidFill>
            <a:srgbClr val="C94A3F"/>
          </a:solidFill>
          <a:ln w="6350">
            <a:solidFill>
              <a:srgbClr val="C94A3F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97" y="3664549"/>
            <a:ext cx="296997" cy="296997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41732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9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die Einspeisung betrachten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417320" y="3794760"/>
            <a:ext cx="854964" cy="32004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363724" y="37947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 kW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3931920" y="34290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2,5 A → unter 6 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Regelung würde herunterregeln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4617720"/>
            <a:ext cx="6583680" cy="1234440"/>
          </a:xfrm>
          <a:prstGeom prst="roundRect">
            <a:avLst>
              <a:gd name="adj" fmla="val 8889"/>
            </a:avLst>
          </a:prstGeom>
          <a:solidFill>
            <a:srgbClr val="E3F4EA"/>
          </a:solidFill>
          <a:ln w="9525">
            <a:solidFill>
              <a:srgbClr val="E3F4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1520" y="4965192"/>
            <a:ext cx="530352" cy="530352"/>
          </a:xfrm>
          <a:prstGeom prst="ellipse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97" y="5081869"/>
            <a:ext cx="296997" cy="296997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41732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Einspeisung + eigene Wallbox-Last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1417320" y="5184648"/>
            <a:ext cx="1659636" cy="320040"/>
          </a:xfrm>
          <a:prstGeom prst="rect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076956" y="5184648"/>
            <a:ext cx="512978" cy="320040"/>
          </a:xfrm>
          <a:prstGeom prst="rect">
            <a:avLst/>
          </a:prstGeom>
          <a:solidFill>
            <a:srgbClr val="E8A8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3681374" y="51846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 kW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4526280" y="48463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7.200 W ÷ 690 ≈ 10,4 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Zielstrom 10 A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7452360" y="1645920"/>
            <a:ext cx="4187952" cy="4206240"/>
          </a:xfrm>
          <a:prstGeom prst="roundRect">
            <a:avLst>
              <a:gd name="adj" fmla="val 2620"/>
            </a:avLst>
          </a:prstGeom>
          <a:solidFill>
            <a:srgbClr val="E3EEF8"/>
          </a:solidFill>
          <a:ln w="9525">
            <a:solidFill>
              <a:srgbClr val="E3EEF8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68096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rechnet das Package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7680960" y="2286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verfügbarer Überschuss =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768096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Wallbox-Leistung − Netzleistung</a:t>
            </a:r>
            <a:endParaRPr lang="en-US" sz="1800" dirty="0"/>
          </a:p>
        </p:txBody>
      </p:sp>
      <p:sp>
        <p:nvSpPr>
          <p:cNvPr id="35" name="Shape 31"/>
          <p:cNvSpPr/>
          <p:nvPr/>
        </p:nvSpPr>
        <p:spPr>
          <a:xfrm>
            <a:off x="7680960" y="3154680"/>
            <a:ext cx="3730752" cy="914"/>
          </a:xfrm>
          <a:prstGeom prst="line">
            <a:avLst/>
          </a:prstGeom>
          <a:noFill/>
          <a:ln w="12700">
            <a:solidFill>
              <a:srgbClr val="BFD3E6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68096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Shelly: + Bezug / − Einspeisung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7680960" y="3611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 kW − (−1,7 kW) = 7,2 kW</a:t>
            </a:r>
            <a:endParaRPr lang="en-US" sz="1800" dirty="0"/>
          </a:p>
        </p:txBody>
      </p:sp>
      <p:sp>
        <p:nvSpPr>
          <p:cNvPr id="38" name="Text 34"/>
          <p:cNvSpPr txBox="1"/>
          <p:nvPr/>
        </p:nvSpPr>
        <p:spPr>
          <a:xfrm>
            <a:off x="7680960" y="4023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entspricht: Einspeisung + aktuelle Wallbox-Leistung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7680960" y="4754880"/>
            <a:ext cx="3730752" cy="868680"/>
          </a:xfrm>
          <a:prstGeom prst="roundRect">
            <a:avLst>
              <a:gd name="adj" fmla="val 12632"/>
            </a:avLst>
          </a:prstGeom>
          <a:solidFill>
            <a:srgbClr val="10263B"/>
          </a:solidFill>
          <a:ln w="9525">
            <a:solidFill>
              <a:srgbClr val="10263B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7863840" y="4846320"/>
            <a:ext cx="3364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[0, ev_w - g_w] | max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| round(0) }}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REGELSTRATEGIE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Langsam hoch, schneller runter – nicht jede Wolke zählt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PV-Überschussladen mit Home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0" y="1965960"/>
            <a:ext cx="914" cy="3108960"/>
          </a:xfrm>
          <a:prstGeom prst="line">
            <a:avLst/>
          </a:prstGeom>
          <a:noFill/>
          <a:ln w="9525">
            <a:solidFill>
              <a:srgbClr val="DDE4EA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2377440" y="1645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77640" y="1965960"/>
            <a:ext cx="914" cy="3108960"/>
          </a:xfrm>
          <a:prstGeom prst="line">
            <a:avLst/>
          </a:prstGeom>
          <a:noFill/>
          <a:ln w="9525">
            <a:solidFill>
              <a:srgbClr val="DDE4EA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3611880" y="1645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1965960"/>
            <a:ext cx="914" cy="3108960"/>
          </a:xfrm>
          <a:prstGeom prst="line">
            <a:avLst/>
          </a:prstGeom>
          <a:noFill/>
          <a:ln w="9525">
            <a:solidFill>
              <a:srgbClr val="DDE4EA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846320" y="1645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46520" y="1965960"/>
            <a:ext cx="914" cy="3108960"/>
          </a:xfrm>
          <a:prstGeom prst="line">
            <a:avLst/>
          </a:prstGeom>
          <a:noFill/>
          <a:ln w="9525">
            <a:solidFill>
              <a:srgbClr val="DDE4EA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080760" y="1645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80960" y="1965960"/>
            <a:ext cx="914" cy="3108960"/>
          </a:xfrm>
          <a:prstGeom prst="line">
            <a:avLst/>
          </a:prstGeom>
          <a:noFill/>
          <a:ln w="9525">
            <a:solidFill>
              <a:srgbClr val="DDE4EA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7315200" y="1645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E8A800"/>
          </a:solidFill>
          <a:ln w="6350">
            <a:solidFill>
              <a:srgbClr val="E8A800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2259482"/>
            <a:ext cx="281635" cy="28163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88720" y="21031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743200" y="2176272"/>
            <a:ext cx="2468880" cy="457200"/>
          </a:xfrm>
          <a:prstGeom prst="roundRect">
            <a:avLst>
              <a:gd name="adj" fmla="val 24000"/>
            </a:avLst>
          </a:prstGeom>
          <a:solidFill>
            <a:srgbClr val="E8A800"/>
          </a:solidFill>
          <a:ln w="9525">
            <a:solidFill>
              <a:srgbClr val="E8A8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743200" y="21762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001000" y="2103120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starten, wenn der Überschuss stabil ist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2907792"/>
            <a:ext cx="502920" cy="502920"/>
          </a:xfrm>
          <a:prstGeom prst="ellipse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" y="3018434"/>
            <a:ext cx="281635" cy="28163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188720" y="28620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Hochregeln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2743200" y="2935224"/>
            <a:ext cx="2468880" cy="457200"/>
          </a:xfrm>
          <a:prstGeom prst="roundRect">
            <a:avLst>
              <a:gd name="adj" fmla="val 24000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2743200" y="29352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8001000" y="2862072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kurze Sonnenlöcher nicht sofort ausnutzen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48640" y="3666744"/>
            <a:ext cx="502920" cy="502920"/>
          </a:xfrm>
          <a:prstGeom prst="ellipse">
            <a:avLst/>
          </a:prstGeom>
          <a:solidFill>
            <a:srgbClr val="1F6FB2"/>
          </a:solidFill>
          <a:ln w="6350">
            <a:solidFill>
              <a:srgbClr val="1F6FB2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" y="3777386"/>
            <a:ext cx="281635" cy="28163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188720" y="362102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Runterregeln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2743200" y="3694176"/>
            <a:ext cx="1234440" cy="457200"/>
          </a:xfrm>
          <a:prstGeom prst="roundRect">
            <a:avLst>
              <a:gd name="adj" fmla="val 24000"/>
            </a:avLst>
          </a:prstGeom>
          <a:solidFill>
            <a:srgbClr val="1F6FB2"/>
          </a:solidFill>
          <a:ln w="9525">
            <a:solidFill>
              <a:srgbClr val="1F6FB2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2743200" y="369417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8001000" y="3621024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Netzbezug schneller reduzieren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548640" y="4425696"/>
            <a:ext cx="502920" cy="502920"/>
          </a:xfrm>
          <a:prstGeom prst="ellipse">
            <a:avLst/>
          </a:prstGeom>
          <a:solidFill>
            <a:srgbClr val="10263B"/>
          </a:solidFill>
          <a:ln w="6350">
            <a:solidFill>
              <a:srgbClr val="10263B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" y="4536338"/>
            <a:ext cx="281635" cy="281635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1188720" y="4379976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2743200" y="4453128"/>
            <a:ext cx="4937760" cy="457200"/>
          </a:xfrm>
          <a:prstGeom prst="roundRect">
            <a:avLst>
              <a:gd name="adj" fmla="val 24000"/>
            </a:avLst>
          </a:prstGeom>
          <a:solidFill>
            <a:srgbClr val="10263B"/>
          </a:solidFill>
          <a:ln w="9525">
            <a:solidFill>
              <a:srgbClr val="10263B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2743200" y="44531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s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8001000" y="4379976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kurze Wolkenphasen überbrücken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548640" y="5349240"/>
            <a:ext cx="2651760" cy="731520"/>
          </a:xfrm>
          <a:prstGeom prst="roundRect">
            <a:avLst>
              <a:gd name="adj" fmla="val 15000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550408"/>
            <a:ext cx="329184" cy="329184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1234440" y="53492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langsam hoch</a:t>
            </a:r>
            <a:endParaRPr lang="en-US" sz="1400" dirty="0"/>
          </a:p>
        </p:txBody>
      </p:sp>
      <p:sp>
        <p:nvSpPr>
          <p:cNvPr id="43" name="Shape 36"/>
          <p:cNvSpPr/>
          <p:nvPr/>
        </p:nvSpPr>
        <p:spPr>
          <a:xfrm>
            <a:off x="3364992" y="5349240"/>
            <a:ext cx="2651760" cy="731520"/>
          </a:xfrm>
          <a:prstGeom prst="roundRect">
            <a:avLst>
              <a:gd name="adj" fmla="val 15000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3592" y="5550408"/>
            <a:ext cx="329184" cy="329184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4050792" y="53492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schneller runter</a:t>
            </a:r>
            <a:endParaRPr lang="en-US" sz="1400" dirty="0"/>
          </a:p>
        </p:txBody>
      </p:sp>
      <p:sp>
        <p:nvSpPr>
          <p:cNvPr id="46" name="Shape 38"/>
          <p:cNvSpPr/>
          <p:nvPr/>
        </p:nvSpPr>
        <p:spPr>
          <a:xfrm>
            <a:off x="6181344" y="5349240"/>
            <a:ext cx="2651760" cy="731520"/>
          </a:xfrm>
          <a:prstGeom prst="roundRect">
            <a:avLst>
              <a:gd name="adj" fmla="val 15000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9944" y="5550408"/>
            <a:ext cx="329184" cy="329184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6867144" y="53492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 langsamer stoppen</a:t>
            </a:r>
            <a:endParaRPr lang="en-US" sz="1400" dirty="0"/>
          </a:p>
        </p:txBody>
      </p:sp>
      <p:sp>
        <p:nvSpPr>
          <p:cNvPr id="49" name="Shape 40"/>
          <p:cNvSpPr/>
          <p:nvPr/>
        </p:nvSpPr>
        <p:spPr>
          <a:xfrm>
            <a:off x="8997696" y="5349240"/>
            <a:ext cx="2651760" cy="731520"/>
          </a:xfrm>
          <a:prstGeom prst="roundRect">
            <a:avLst>
              <a:gd name="adj" fmla="val 15000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6296" y="5550408"/>
            <a:ext cx="329184" cy="329184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9683496" y="53492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auf jede Wolke reagieren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BEWUSSTER NETZBEZUG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0 W Netzbezug – sondern praktikabel laden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PV-Überschussladen mit Home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Startschwelle 2,0 kW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63040" y="3968496"/>
            <a:ext cx="1371600" cy="1700784"/>
          </a:xfrm>
          <a:prstGeom prst="rect">
            <a:avLst/>
          </a:prstGeom>
          <a:solidFill>
            <a:srgbClr val="E8A8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148657"/>
            <a:ext cx="1371600" cy="1819839"/>
          </a:xfrm>
          <a:prstGeom prst="rect">
            <a:avLst/>
          </a:prstGeom>
          <a:solidFill>
            <a:srgbClr val="1F6FB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63040" y="3968496"/>
            <a:ext cx="137160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 kW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148657"/>
            <a:ext cx="1371600" cy="1819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2,14 kW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465429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PV-Überschuss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784257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Netzanteil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 erlaubt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280160" y="2148657"/>
            <a:ext cx="914" cy="3520623"/>
          </a:xfrm>
          <a:prstGeom prst="line">
            <a:avLst/>
          </a:prstGeom>
          <a:noFill/>
          <a:ln w="15875">
            <a:solidFill>
              <a:srgbClr val="1026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" y="2148657"/>
            <a:ext cx="182880" cy="914"/>
          </a:xfrm>
          <a:prstGeom prst="line">
            <a:avLst/>
          </a:prstGeom>
          <a:noFill/>
          <a:ln w="15875">
            <a:solidFill>
              <a:srgbClr val="1026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5669280"/>
            <a:ext cx="182880" cy="914"/>
          </a:xfrm>
          <a:prstGeom prst="line">
            <a:avLst/>
          </a:prstGeom>
          <a:noFill/>
          <a:ln w="15875">
            <a:solidFill>
              <a:srgbClr val="1026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3588929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</a:t>
            </a:r>
            <a:endParaRPr lang="en-US" sz="1200" dirty="0"/>
          </a:p>
          <a:p>
            <a:pPr marL="0" indent="0" algn="r">
              <a:buNone/>
            </a:pPr>
            <a:r>
              <a:rPr lang="en-US" sz="12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4,14 kW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79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V × 6 A × 3 ≈ 4.140 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1645920"/>
            <a:ext cx="6519672" cy="1097280"/>
          </a:xfrm>
          <a:prstGeom prst="roundRect">
            <a:avLst>
              <a:gd name="adj" fmla="val 10000"/>
            </a:avLst>
          </a:prstGeom>
          <a:solidFill>
            <a:srgbClr val="E3EEF8"/>
          </a:solidFill>
          <a:ln w="9525">
            <a:solidFill>
              <a:srgbClr val="E3EE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49240" y="175564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Netzanteil beim Start mit 6 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205740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4.140 W − Startschwelle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Vorlagen im Dashboard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3337560"/>
          <a:ext cx="6519672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Vorlage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Charakter (lt. Dashboard)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4.500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kaum Netzbezug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Ausgewogen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4.300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3.600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 ~0,5 kW Netz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Mehr laden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4.200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3.000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B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 ~1,1 kW Netz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5120640" y="4937760"/>
            <a:ext cx="6519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Zusätzlich frei einstellbar in ±100-W-Schritten · Stopp wird nie über Start gesetzt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120640" y="5349240"/>
            <a:ext cx="6519672" cy="731520"/>
          </a:xfrm>
          <a:prstGeom prst="roundRect">
            <a:avLst>
              <a:gd name="adj" fmla="val 15000"/>
            </a:avLst>
          </a:prstGeom>
          <a:solidFill>
            <a:srgbClr val="FFF4D1"/>
          </a:solidFill>
          <a:ln w="9525">
            <a:solidFill>
              <a:srgbClr val="FFF4D1"/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5532120"/>
            <a:ext cx="365760" cy="36576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852160" y="53492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maximale PV-Nutzung bei praktikablem Laden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VERHALTEN DES BYD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Wallbox bietet an – das Auto entscheidet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PV-Überschussladen mit Home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577840" cy="4434840"/>
          </a:xfrm>
          <a:prstGeom prst="roundRect">
            <a:avLst>
              <a:gd name="adj" fmla="val 2474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2061058"/>
            <a:ext cx="358445" cy="3584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1920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Wallbox setzt 10 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240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„Das Auto darf maximal 10 A aufnehmen.“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3063240"/>
            <a:ext cx="5029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3063240"/>
            <a:ext cx="3143250" cy="411480"/>
          </a:xfrm>
          <a:prstGeom prst="rect">
            <a:avLst/>
          </a:prstGeom>
          <a:solidFill>
            <a:srgbClr val="E3F4EA"/>
          </a:solidFill>
          <a:ln w="6350">
            <a:solidFill>
              <a:srgbClr val="E3F4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3154680"/>
            <a:ext cx="2200275" cy="228600"/>
          </a:xfrm>
          <a:prstGeom prst="rect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66210" y="2926080"/>
            <a:ext cx="914" cy="685800"/>
          </a:xfrm>
          <a:prstGeom prst="line">
            <a:avLst/>
          </a:prstGeom>
          <a:noFill/>
          <a:ln w="25400">
            <a:solidFill>
              <a:srgbClr val="10263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326130" y="2651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Freigabe 10 A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3630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tatsächliche Aufnahme ≤ Freigabe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8" y="4209898"/>
            <a:ext cx="358445" cy="35844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600200" y="4069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BYD entscheidet selbst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1600200" y="440740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99–100 % SoC reduziert das Fahrzeug die Leistung oder beendet die Ladung.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822960" y="5669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Werte in der Grafik beispielhaft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644652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Anzeige ist Referenz?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6446520" y="2221992"/>
            <a:ext cx="457200" cy="457200"/>
          </a:xfrm>
          <a:prstGeom prst="ellipse">
            <a:avLst/>
          </a:prstGeom>
          <a:solidFill>
            <a:srgbClr val="E3F4EA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44652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708660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Wallbox-Leistung in Home Assistant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7086600" y="2450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AC-Messung vor dem Fahrzeug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446520" y="2953512"/>
            <a:ext cx="457200" cy="457200"/>
          </a:xfrm>
          <a:prstGeom prst="ellipse">
            <a:avLst/>
          </a:prstGeom>
          <a:solidFill>
            <a:srgbClr val="E3F4EA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44652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708660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Shelly-Netzfluss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7086600" y="3182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unabhängige Netzmessung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446520" y="3685032"/>
            <a:ext cx="457200" cy="457200"/>
          </a:xfrm>
          <a:prstGeom prst="ellipse">
            <a:avLst/>
          </a:prstGeom>
          <a:solidFill>
            <a:srgbClr val="E3F4EA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44652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708660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Physischer Zweirichtungszähler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7086600" y="3913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bestätigt die Energiebilanz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6446520" y="4416552"/>
            <a:ext cx="457200" cy="457200"/>
          </a:xfrm>
          <a:prstGeom prst="ellipse">
            <a:avLst/>
          </a:prstGeom>
          <a:solidFill>
            <a:srgbClr val="E3F4EA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44652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708660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BYD-Fahrerdisplay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7086600" y="4645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 durch Fahrzeugverbrauch/Verluste niedriger liegen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6446520" y="5120640"/>
            <a:ext cx="5193792" cy="960120"/>
          </a:xfrm>
          <a:prstGeom prst="roundRect">
            <a:avLst>
              <a:gd name="adj" fmla="val 11429"/>
            </a:avLst>
          </a:prstGeom>
          <a:solidFill>
            <a:srgbClr val="FBE7E5"/>
          </a:solidFill>
          <a:ln w="9525">
            <a:solidFill>
              <a:srgbClr val="FBE7E5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629400" y="5303520"/>
            <a:ext cx="548640" cy="548640"/>
          </a:xfrm>
          <a:prstGeom prst="ellipse">
            <a:avLst/>
          </a:prstGeom>
          <a:solidFill>
            <a:srgbClr val="C94A3F"/>
          </a:solidFill>
          <a:ln w="6350">
            <a:solidFill>
              <a:srgbClr val="C94A3F"/>
            </a:solidFill>
            <a:prstDash val="solid"/>
          </a:ln>
        </p:spPr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0101" y="5424221"/>
            <a:ext cx="307238" cy="307238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7360920" y="5193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9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BYD-App</a:t>
            </a:r>
            <a:endParaRPr lang="en-US" sz="1400" dirty="0"/>
          </a:p>
        </p:txBody>
      </p:sp>
      <p:sp>
        <p:nvSpPr>
          <p:cNvPr id="43" name="Text 38"/>
          <p:cNvSpPr txBox="1"/>
          <p:nvPr/>
        </p:nvSpPr>
        <p:spPr>
          <a:xfrm>
            <a:off x="7360920" y="54864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 verzögert oder geglättet anzeigen – keine Echtzeit-Referenz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ERKENNUNG „AUTO VOLL“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Angeschlossen, aber 0 kW ist ein eigener Zustand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PV-Überschussladen mit Home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011680" cy="1691640"/>
          </a:xfrm>
          <a:prstGeom prst="roundRect">
            <a:avLst>
              <a:gd name="adj" fmla="val 6486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71016" y="1783080"/>
            <a:ext cx="566928" cy="566928"/>
          </a:xfrm>
          <a:prstGeom prst="ellipse">
            <a:avLst/>
          </a:prstGeom>
          <a:solidFill>
            <a:srgbClr val="E8A800"/>
          </a:solidFill>
          <a:ln w="6350">
            <a:solidFill>
              <a:srgbClr val="E8A80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740" y="190780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PV-Start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60 s stabiler Startbedingung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96896" y="2491740"/>
            <a:ext cx="185166" cy="914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18638" y="1645920"/>
            <a:ext cx="2011680" cy="1691640"/>
          </a:xfrm>
          <a:prstGeom prst="roundRect">
            <a:avLst>
              <a:gd name="adj" fmla="val 6486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41014" y="1783080"/>
            <a:ext cx="566928" cy="566928"/>
          </a:xfrm>
          <a:prstGeom prst="ellipse">
            <a:avLst/>
          </a:prstGeom>
          <a:solidFill>
            <a:srgbClr val="1F6FB2"/>
          </a:solidFill>
          <a:ln w="6350">
            <a:solidFill>
              <a:srgbClr val="1F6FB2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5738" y="1907804"/>
            <a:ext cx="317480" cy="317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10078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90-s-Test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2910078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timer.wallbox_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ladeannahme_test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866894" y="2491740"/>
            <a:ext cx="185166" cy="914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5088636" y="1645920"/>
            <a:ext cx="2011680" cy="1691640"/>
          </a:xfrm>
          <a:prstGeom prst="roundRect">
            <a:avLst>
              <a:gd name="adj" fmla="val 6486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11012" y="1783080"/>
            <a:ext cx="566928" cy="566928"/>
          </a:xfrm>
          <a:prstGeom prst="ellipse">
            <a:avLst/>
          </a:prstGeom>
          <a:solidFill>
            <a:srgbClr val="1F6FB2"/>
          </a:solidFill>
          <a:ln w="6350">
            <a:solidFill>
              <a:srgbClr val="1F6FB2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5736" y="1907804"/>
            <a:ext cx="317480" cy="3174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180076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5180076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Ladeleistung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weiterhin &lt; 300 W?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136892" y="2491740"/>
            <a:ext cx="185166" cy="914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7358634" y="1645920"/>
            <a:ext cx="2011680" cy="1691640"/>
          </a:xfrm>
          <a:prstGeom prst="roundRect">
            <a:avLst>
              <a:gd name="adj" fmla="val 6486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081010" y="1783080"/>
            <a:ext cx="566928" cy="566928"/>
          </a:xfrm>
          <a:prstGeom prst="ellipse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734" y="1907804"/>
            <a:ext cx="317480" cy="31748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450074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voll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7450074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„nimmt keine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Ladung an“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9406890" y="2491740"/>
            <a:ext cx="185166" cy="914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9628632" y="1645920"/>
            <a:ext cx="2011680" cy="1691640"/>
          </a:xfrm>
          <a:prstGeom prst="roundRect">
            <a:avLst>
              <a:gd name="adj" fmla="val 6486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0351008" y="1783080"/>
            <a:ext cx="566928" cy="566928"/>
          </a:xfrm>
          <a:prstGeom prst="ellipse">
            <a:avLst/>
          </a:prstGeom>
          <a:solidFill>
            <a:srgbClr val="10263B"/>
          </a:solidFill>
          <a:ln w="6350">
            <a:solidFill>
              <a:srgbClr val="10263B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5732" y="1907804"/>
            <a:ext cx="317480" cy="31748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720072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Sperre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9720072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PV-Starts bis zum Abstecken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548640" y="3611880"/>
            <a:ext cx="39776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77724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Ablauf der 90 s gilt weiterhin</a:t>
            </a:r>
            <a:endParaRPr lang="en-US" sz="14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251960"/>
            <a:ext cx="256032" cy="25603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143000" y="42153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ist angeschlossen</a:t>
            </a:r>
            <a:endParaRPr lang="en-US" sz="13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672584"/>
            <a:ext cx="256032" cy="25603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143000" y="46360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PV-Automatik ist an, kein Sofortladen</a:t>
            </a:r>
            <a:endParaRPr lang="en-US" sz="13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093208"/>
            <a:ext cx="256032" cy="25603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143000" y="50566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Überschuss ≥ Startschwelle</a:t>
            </a:r>
            <a:endParaRPr lang="en-US" sz="1300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513832"/>
            <a:ext cx="256032" cy="256032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1143000" y="547725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AC-Ladeleistung &lt; 300 W</a:t>
            </a:r>
            <a:endParaRPr lang="en-US" sz="1300" dirty="0"/>
          </a:p>
        </p:txBody>
      </p:sp>
      <p:sp>
        <p:nvSpPr>
          <p:cNvPr id="45" name="Shape 34"/>
          <p:cNvSpPr/>
          <p:nvPr/>
        </p:nvSpPr>
        <p:spPr>
          <a:xfrm>
            <a:off x="4754880" y="3611880"/>
            <a:ext cx="3337560" cy="2468880"/>
          </a:xfrm>
          <a:prstGeom prst="roundRect">
            <a:avLst>
              <a:gd name="adj" fmla="val 4444"/>
            </a:avLst>
          </a:prstGeom>
          <a:solidFill>
            <a:srgbClr val="E3F4EA"/>
          </a:solidFill>
          <a:ln w="9525">
            <a:solidFill>
              <a:srgbClr val="E3F4EA"/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498348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Folgen</a:t>
            </a:r>
            <a:endParaRPr lang="en-US" sz="1400" dirty="0"/>
          </a:p>
        </p:txBody>
      </p:sp>
      <p:sp>
        <p:nvSpPr>
          <p:cNvPr id="47" name="Text 36"/>
          <p:cNvSpPr txBox="1"/>
          <p:nvPr/>
        </p:nvSpPr>
        <p:spPr>
          <a:xfrm>
            <a:off x="4983480" y="42062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„nimmt keine Ladung an“ = ein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Ladesession wird ausgeschaltet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Zielstrom = 0 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Logbook melden es</a:t>
            </a:r>
            <a:endParaRPr lang="en-US" sz="1300" dirty="0"/>
          </a:p>
        </p:txBody>
      </p:sp>
      <p:sp>
        <p:nvSpPr>
          <p:cNvPr id="48" name="Shape 37"/>
          <p:cNvSpPr/>
          <p:nvPr/>
        </p:nvSpPr>
        <p:spPr>
          <a:xfrm>
            <a:off x="8302752" y="3611880"/>
            <a:ext cx="3337560" cy="2468880"/>
          </a:xfrm>
          <a:prstGeom prst="roundRect">
            <a:avLst>
              <a:gd name="adj" fmla="val 4444"/>
            </a:avLst>
          </a:prstGeom>
          <a:solidFill>
            <a:srgbClr val="E3EEF8"/>
          </a:solidFill>
          <a:ln w="9525">
            <a:solidFill>
              <a:srgbClr val="E3EEF8"/>
            </a:solidFill>
            <a:prstDash val="solid"/>
          </a:ln>
        </p:spPr>
      </p:sp>
      <p:sp>
        <p:nvSpPr>
          <p:cNvPr id="49" name="Text 38"/>
          <p:cNvSpPr txBox="1"/>
          <p:nvPr/>
        </p:nvSpPr>
        <p:spPr>
          <a:xfrm>
            <a:off x="8531352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 zurück</a:t>
            </a:r>
            <a:endParaRPr lang="en-US" sz="1400" dirty="0"/>
          </a:p>
        </p:txBody>
      </p:sp>
      <p:sp>
        <p:nvSpPr>
          <p:cNvPr id="50" name="Text 39"/>
          <p:cNvSpPr txBox="1"/>
          <p:nvPr/>
        </p:nvSpPr>
        <p:spPr>
          <a:xfrm>
            <a:off x="8531352" y="42062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300 W für 5 s: </a:t>
            </a: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beendet, Sperre wird ggf. zurückgesetzt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Abstecken: </a:t>
            </a: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+ Sperre zurückgesetzt – neuer Versuch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UND DIAGNOSE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Entscheidung mit Zeitstempel und Messwerten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PV-Überschussladen mit Home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783080" cy="502920"/>
          </a:xfrm>
          <a:prstGeom prst="homePlate">
            <a:avLst/>
          </a:prstGeom>
          <a:solidFill>
            <a:srgbClr val="E8A8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645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PV-Start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67712" y="1645920"/>
            <a:ext cx="1783080" cy="502920"/>
          </a:xfrm>
          <a:prstGeom prst="chevron">
            <a:avLst/>
          </a:prstGeom>
          <a:solidFill>
            <a:srgbClr val="1F6F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23744" y="1645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Ladeannahme-Test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986784" y="1645920"/>
            <a:ext cx="1783080" cy="502920"/>
          </a:xfrm>
          <a:prstGeom prst="chevron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42816" y="1645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Ladeannahme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705856" y="1645920"/>
            <a:ext cx="1783080" cy="502920"/>
          </a:xfrm>
          <a:prstGeom prst="chevron">
            <a:avLst/>
          </a:prstGeom>
          <a:solidFill>
            <a:srgbClr val="1026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61888" y="1645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681228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DE4EA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14600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097280" y="2487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Wallbox-Regelungslog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2907792"/>
            <a:ext cx="6812280" cy="914"/>
          </a:xfrm>
          <a:prstGeom prst="line">
            <a:avLst/>
          </a:prstGeom>
          <a:noFill/>
          <a:ln w="9525">
            <a:solidFill>
              <a:srgbClr val="DDE4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" y="3136392"/>
            <a:ext cx="164592" cy="164592"/>
          </a:xfrm>
          <a:prstGeom prst="ellipse">
            <a:avLst/>
          </a:prstGeom>
          <a:solidFill>
            <a:srgbClr val="E8A800"/>
          </a:solidFill>
          <a:ln w="6350">
            <a:solidFill>
              <a:srgbClr val="E8A8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51560" y="30632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12:14:08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920240" y="30632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PV-Start</a:t>
            </a:r>
            <a:r>
              <a:rPr lang="en-US" sz="115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60 s Startbedingung bestätigt · Ladeannahme-Test 90 s gestartet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1920240" y="359359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4380 W · Ziel 6 A · gesetzt 6 A · AC 0.0 kW · Netz -4.38 kW · Session 0.0 kWh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77240" y="4050792"/>
            <a:ext cx="164592" cy="164592"/>
          </a:xfrm>
          <a:prstGeom prst="ellipse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51560" y="39776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12:15:36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920240" y="39776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voll / keine Ladeannahme</a:t>
            </a:r>
            <a:r>
              <a:rPr lang="en-US" sz="115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weniger als 300 W trotz ausreichendem Überschuss · PV-Starts gesperrt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1920240" y="450799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4410 W · Ziel 0 A · gesetzt 6 A · AC 0.0 kW · Netz -4.41 kW · Session 0.0 kWh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77240" y="4965192"/>
            <a:ext cx="164592" cy="164592"/>
          </a:xfrm>
          <a:prstGeom prst="ellipse">
            <a:avLst/>
          </a:prstGeom>
          <a:solidFill>
            <a:srgbClr val="10263B"/>
          </a:solidFill>
          <a:ln w="6350">
            <a:solidFill>
              <a:srgbClr val="10263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51560" y="48920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17:02:51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920240" y="48920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Fahrzeug abgesteckt</a:t>
            </a:r>
            <a:r>
              <a:rPr lang="en-US" sz="115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Ladeannahme-Sperre zurückgesetzt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1920240" y="542239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1920 W · Ziel 0 A · gesetzt 6 A · AC 0.0 kW · Netz -1.92 kW · Session 0.0 kWh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763524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Mitprotokolliert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635240" y="2103120"/>
            <a:ext cx="1938528" cy="621792"/>
          </a:xfrm>
          <a:prstGeom prst="roundRect">
            <a:avLst>
              <a:gd name="adj" fmla="val 17647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2276856"/>
            <a:ext cx="274320" cy="27432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8138160" y="2176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PV-Überschuss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8138160" y="2432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9665208" y="2103120"/>
            <a:ext cx="1938528" cy="621792"/>
          </a:xfrm>
          <a:prstGeom prst="roundRect">
            <a:avLst>
              <a:gd name="adj" fmla="val 17647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2276856"/>
            <a:ext cx="274320" cy="274320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10168128" y="2176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Zielstrom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10168128" y="24323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7635240" y="2852928"/>
            <a:ext cx="1938528" cy="621792"/>
          </a:xfrm>
          <a:prstGeom prst="roundRect">
            <a:avLst>
              <a:gd name="adj" fmla="val 17647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3026664"/>
            <a:ext cx="274320" cy="274320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813816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gesetzter Strom</a:t>
            </a:r>
            <a:endParaRPr lang="en-US" sz="1200" dirty="0"/>
          </a:p>
        </p:txBody>
      </p:sp>
      <p:sp>
        <p:nvSpPr>
          <p:cNvPr id="42" name="Text 36"/>
          <p:cNvSpPr txBox="1"/>
          <p:nvPr/>
        </p:nvSpPr>
        <p:spPr>
          <a:xfrm>
            <a:off x="8138160" y="3182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9665208" y="2852928"/>
            <a:ext cx="1938528" cy="621792"/>
          </a:xfrm>
          <a:prstGeom prst="roundRect">
            <a:avLst>
              <a:gd name="adj" fmla="val 17647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2368" y="3026664"/>
            <a:ext cx="274320" cy="274320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10168128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AC-Ladeleistung</a:t>
            </a:r>
            <a:endParaRPr lang="en-US" sz="1200" dirty="0"/>
          </a:p>
        </p:txBody>
      </p:sp>
      <p:sp>
        <p:nvSpPr>
          <p:cNvPr id="46" name="Text 39"/>
          <p:cNvSpPr txBox="1"/>
          <p:nvPr/>
        </p:nvSpPr>
        <p:spPr>
          <a:xfrm>
            <a:off x="10168128" y="3182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7635240" y="3602736"/>
            <a:ext cx="1938528" cy="621792"/>
          </a:xfrm>
          <a:prstGeom prst="roundRect">
            <a:avLst>
              <a:gd name="adj" fmla="val 17647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0" y="3776472"/>
            <a:ext cx="274320" cy="274320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8138160" y="3675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Netzfluss</a:t>
            </a:r>
            <a:endParaRPr lang="en-US" sz="1200" dirty="0"/>
          </a:p>
        </p:txBody>
      </p:sp>
      <p:sp>
        <p:nvSpPr>
          <p:cNvPr id="50" name="Text 42"/>
          <p:cNvSpPr txBox="1"/>
          <p:nvPr/>
        </p:nvSpPr>
        <p:spPr>
          <a:xfrm>
            <a:off x="8138160" y="3931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</a:t>
            </a:r>
            <a:endParaRPr lang="en-US" sz="1050" dirty="0"/>
          </a:p>
        </p:txBody>
      </p:sp>
      <p:sp>
        <p:nvSpPr>
          <p:cNvPr id="51" name="Shape 43"/>
          <p:cNvSpPr/>
          <p:nvPr/>
        </p:nvSpPr>
        <p:spPr>
          <a:xfrm>
            <a:off x="9665208" y="3602736"/>
            <a:ext cx="1938528" cy="621792"/>
          </a:xfrm>
          <a:prstGeom prst="roundRect">
            <a:avLst>
              <a:gd name="adj" fmla="val 17647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2368" y="3776472"/>
            <a:ext cx="274320" cy="274320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10168128" y="3675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Session-Energie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10168128" y="3931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</a:t>
            </a:r>
            <a:endParaRPr lang="en-US" sz="1050" dirty="0"/>
          </a:p>
        </p:txBody>
      </p:sp>
      <p:sp>
        <p:nvSpPr>
          <p:cNvPr id="55" name="Text 46"/>
          <p:cNvSpPr txBox="1"/>
          <p:nvPr/>
        </p:nvSpPr>
        <p:spPr>
          <a:xfrm>
            <a:off x="7635240" y="4434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Dauerhaft im Dashboard sichtbar</a:t>
            </a:r>
            <a:endParaRPr lang="en-US" sz="1200" dirty="0"/>
          </a:p>
        </p:txBody>
      </p:sp>
      <p:sp>
        <p:nvSpPr>
          <p:cNvPr id="56" name="Shape 47"/>
          <p:cNvSpPr/>
          <p:nvPr/>
        </p:nvSpPr>
        <p:spPr>
          <a:xfrm>
            <a:off x="7635240" y="4754880"/>
            <a:ext cx="4005072" cy="822960"/>
          </a:xfrm>
          <a:prstGeom prst="roundRect">
            <a:avLst>
              <a:gd name="adj" fmla="val 13333"/>
            </a:avLst>
          </a:prstGeom>
          <a:solidFill>
            <a:srgbClr val="10263B"/>
          </a:solidFill>
          <a:ln w="9525">
            <a:solidFill>
              <a:srgbClr val="10263B"/>
            </a:solidFill>
            <a:prstDash val="solid"/>
          </a:ln>
        </p:spPr>
      </p:sp>
      <p:sp>
        <p:nvSpPr>
          <p:cNvPr id="57" name="Text 48"/>
          <p:cNvSpPr txBox="1"/>
          <p:nvPr/>
        </p:nvSpPr>
        <p:spPr>
          <a:xfrm>
            <a:off x="7818120" y="4846320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input_text.wallbox_letzte_regelaktion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input_text.wallbox_letzte_regelwerte</a:t>
            </a:r>
            <a:endParaRPr lang="en-US" sz="1050" dirty="0"/>
          </a:p>
        </p:txBody>
      </p:sp>
      <p:sp>
        <p:nvSpPr>
          <p:cNvPr id="58" name="Shape 49"/>
          <p:cNvSpPr/>
          <p:nvPr/>
        </p:nvSpPr>
        <p:spPr>
          <a:xfrm>
            <a:off x="548640" y="5989320"/>
            <a:ext cx="8412480" cy="310896"/>
          </a:xfrm>
          <a:prstGeom prst="roundRect">
            <a:avLst>
              <a:gd name="adj" fmla="val 35294"/>
            </a:avLst>
          </a:prstGeom>
          <a:solidFill>
            <a:srgbClr val="F3F6F9"/>
          </a:solidFill>
          <a:ln w="9525">
            <a:solidFill>
              <a:srgbClr val="DDE4EA"/>
            </a:solidFill>
            <a:prstDash val="solid"/>
          </a:ln>
        </p:spPr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6053328"/>
            <a:ext cx="182880" cy="182880"/>
          </a:xfrm>
          <a:prstGeom prst="rect">
            <a:avLst/>
          </a:prstGeom>
        </p:spPr>
      </p:pic>
      <p:sp>
        <p:nvSpPr>
          <p:cNvPr id="60" name="Text 50"/>
          <p:cNvSpPr txBox="1"/>
          <p:nvPr/>
        </p:nvSpPr>
        <p:spPr>
          <a:xfrm>
            <a:off x="896112" y="5989320"/>
            <a:ext cx="7973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Uhrzeiten und Messwerte beispielhaft, Meldungen leicht gekürzt (Interpretation) – Format entspricht script.wallbox_regelung_log.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AC-LADEKURVE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Ladeverhalten des BYD sichtbar machen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PV-Überschussladen mit Home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00200"/>
          <a:ext cx="694944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48640" y="4160520"/>
          <a:ext cx="694944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7772400" y="1645920"/>
            <a:ext cx="3867912" cy="2514600"/>
          </a:xfrm>
          <a:prstGeom prst="roundRect">
            <a:avLst>
              <a:gd name="adj" fmla="val 4364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973568" y="17830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Recorder-Sensoren aus dem Package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001000" y="2276856"/>
            <a:ext cx="155448" cy="155448"/>
          </a:xfrm>
          <a:prstGeom prst="ellipse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75320" y="21945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AC-Leistung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0881360" y="21945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01000" y="2642616"/>
            <a:ext cx="155448" cy="155448"/>
          </a:xfrm>
          <a:prstGeom prst="ellipse">
            <a:avLst/>
          </a:prstGeom>
          <a:solidFill>
            <a:srgbClr val="E8A800"/>
          </a:solidFill>
          <a:ln w="6350">
            <a:solidFill>
              <a:srgbClr val="E8A80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75320" y="2560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PV-Verfügbarkeit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0881360" y="256032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01000" y="3008376"/>
            <a:ext cx="155448" cy="155448"/>
          </a:xfrm>
          <a:prstGeom prst="ellipse">
            <a:avLst/>
          </a:prstGeom>
          <a:solidFill>
            <a:srgbClr val="1F6FB2"/>
          </a:solidFill>
          <a:ln w="6350">
            <a:solidFill>
              <a:srgbClr val="1F6FB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75320" y="29260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Netzfluss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0881360" y="29260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001000" y="3374136"/>
            <a:ext cx="155448" cy="155448"/>
          </a:xfrm>
          <a:prstGeom prst="ellipse">
            <a:avLst/>
          </a:prstGeom>
          <a:solidFill>
            <a:srgbClr val="10263B"/>
          </a:solidFill>
          <a:ln w="6350">
            <a:solidFill>
              <a:srgbClr val="10263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275320" y="32918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Zielstrom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0881360" y="32918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001000" y="3739896"/>
            <a:ext cx="155448" cy="155448"/>
          </a:xfrm>
          <a:prstGeom prst="ellipse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275320" y="3657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gesetzter Strom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0881360" y="36576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772400" y="4343400"/>
            <a:ext cx="3867912" cy="1554480"/>
          </a:xfrm>
          <a:prstGeom prst="roundRect">
            <a:avLst>
              <a:gd name="adj" fmla="val 7059"/>
            </a:avLst>
          </a:prstGeom>
          <a:solidFill>
            <a:srgbClr val="E3F4EA"/>
          </a:solidFill>
          <a:ln w="9525">
            <a:solidFill>
              <a:srgbClr val="E3F4E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973568" y="4434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Beantwortet z. B.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7973568" y="4736592"/>
            <a:ext cx="3566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viel hat die Wallbox angeboten?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viel hat das Auto aufgenommen?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 reduziert der BYD bei hohem SoC?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 es parallel Netzbezug oder Einspeisung?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48640" y="5989320"/>
            <a:ext cx="5852160" cy="310896"/>
          </a:xfrm>
          <a:prstGeom prst="roundRect">
            <a:avLst>
              <a:gd name="adj" fmla="val 35294"/>
            </a:avLst>
          </a:prstGeom>
          <a:solidFill>
            <a:srgbClr val="F3F6F9"/>
          </a:solidFill>
          <a:ln w="9525">
            <a:solidFill>
              <a:srgbClr val="DDE4EA"/>
            </a:solidFill>
            <a:prstDash val="solid"/>
          </a:ln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6053328"/>
            <a:ext cx="182880" cy="18288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96112" y="5989320"/>
            <a:ext cx="5413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Schematische Kurve zur Erklärung (Interpretation) – keine realen Messdaten.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Ansicht „Energie“ – vereinfachte UI-Übersicht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PV-Überschussladen mit Home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2432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DE4E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19072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05840" y="169164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PV-Leistung jetzt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 kW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731520" y="2715768"/>
            <a:ext cx="2258568" cy="128016"/>
          </a:xfrm>
          <a:prstGeom prst="rect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2715768"/>
            <a:ext cx="1806854" cy="128016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862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2441448" y="2862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kW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108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speist gerade ein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 kW PV · 7,7 kW Haus · 0,3 kW Einspeisung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374136" y="1600200"/>
            <a:ext cx="262432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DE4EA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296" y="1719072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831336" y="169164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Wallbox-Zustand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511296" y="2075688"/>
            <a:ext cx="2350008" cy="731520"/>
          </a:xfrm>
          <a:prstGeom prst="roundRect">
            <a:avLst>
              <a:gd name="adj" fmla="val 15000"/>
            </a:avLst>
          </a:prstGeom>
          <a:solidFill>
            <a:srgbClr val="E3F4EA"/>
          </a:solidFill>
          <a:ln w="9525">
            <a:solidFill>
              <a:srgbClr val="9ED3B3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1024" y="2240280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105656" y="211226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Lädt mit Sonnenstrom</a:t>
            </a:r>
            <a:endParaRPr lang="en-US" sz="1400" dirty="0"/>
          </a:p>
          <a:p>
            <a:pPr marL="0" indent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 kW · 10 A · 12,4 kWh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3511296" y="2926080"/>
            <a:ext cx="731520" cy="640080"/>
          </a:xfrm>
          <a:prstGeom prst="roundRect">
            <a:avLst>
              <a:gd name="adj" fmla="val 17143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3511296" y="2971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 kW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3511296" y="3246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fürs Auto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4306824" y="2926080"/>
            <a:ext cx="731520" cy="640080"/>
          </a:xfrm>
          <a:prstGeom prst="roundRect">
            <a:avLst>
              <a:gd name="adj" fmla="val 17143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306824" y="2971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 kW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4306824" y="3246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Ladeleistung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5102352" y="2926080"/>
            <a:ext cx="731520" cy="640080"/>
          </a:xfrm>
          <a:prstGeom prst="roundRect">
            <a:avLst>
              <a:gd name="adj" fmla="val 17143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102352" y="2971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 kWh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5102352" y="3246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Ladung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6199632" y="1600200"/>
            <a:ext cx="262432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DE4EA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1719072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6656832" y="169164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 laden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6364224" y="2057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Dauer wählen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6336792" y="229514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6336792" y="229514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Std.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6926580" y="229514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FFF4D1"/>
          </a:solidFill>
          <a:ln w="9525">
            <a:solidFill>
              <a:srgbClr val="E8A800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926580" y="229514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Std.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7516368" y="229514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7516368" y="229514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Std.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8106156" y="229514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8106156" y="229514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voll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6364224" y="27523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Ladestrom antippen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6336792" y="2990088"/>
            <a:ext cx="438912" cy="566928"/>
          </a:xfrm>
          <a:prstGeom prst="roundRect">
            <a:avLst>
              <a:gd name="adj" fmla="val 25000"/>
            </a:avLst>
          </a:prstGeom>
          <a:solidFill>
            <a:srgbClr val="E3EEF8"/>
          </a:solidFill>
          <a:ln w="9525">
            <a:solidFill>
              <a:srgbClr val="E3EEF8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6336792" y="30175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</a:t>
            </a:r>
            <a:endParaRPr lang="en-US" sz="950" dirty="0"/>
          </a:p>
        </p:txBody>
      </p:sp>
      <p:sp>
        <p:nvSpPr>
          <p:cNvPr id="45" name="Text 39"/>
          <p:cNvSpPr txBox="1"/>
          <p:nvPr/>
        </p:nvSpPr>
        <p:spPr>
          <a:xfrm>
            <a:off x="6309360" y="3264408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 kW</a:t>
            </a:r>
            <a:endParaRPr lang="en-US" sz="750" dirty="0"/>
          </a:p>
        </p:txBody>
      </p:sp>
      <p:sp>
        <p:nvSpPr>
          <p:cNvPr id="46" name="Shape 40"/>
          <p:cNvSpPr/>
          <p:nvPr/>
        </p:nvSpPr>
        <p:spPr>
          <a:xfrm>
            <a:off x="6808622" y="2990088"/>
            <a:ext cx="438912" cy="566928"/>
          </a:xfrm>
          <a:prstGeom prst="roundRect">
            <a:avLst>
              <a:gd name="adj" fmla="val 25000"/>
            </a:avLst>
          </a:prstGeom>
          <a:solidFill>
            <a:srgbClr val="E3EEF8"/>
          </a:solidFill>
          <a:ln w="9525">
            <a:solidFill>
              <a:srgbClr val="E3EEF8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6808622" y="30175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</a:t>
            </a:r>
            <a:endParaRPr lang="en-US" sz="950" dirty="0"/>
          </a:p>
        </p:txBody>
      </p:sp>
      <p:sp>
        <p:nvSpPr>
          <p:cNvPr id="48" name="Text 42"/>
          <p:cNvSpPr txBox="1"/>
          <p:nvPr/>
        </p:nvSpPr>
        <p:spPr>
          <a:xfrm>
            <a:off x="6781190" y="3264408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 kW</a:t>
            </a:r>
            <a:endParaRPr lang="en-US" sz="750" dirty="0"/>
          </a:p>
        </p:txBody>
      </p:sp>
      <p:sp>
        <p:nvSpPr>
          <p:cNvPr id="49" name="Shape 43"/>
          <p:cNvSpPr/>
          <p:nvPr/>
        </p:nvSpPr>
        <p:spPr>
          <a:xfrm>
            <a:off x="7280453" y="2990088"/>
            <a:ext cx="438912" cy="566928"/>
          </a:xfrm>
          <a:prstGeom prst="roundRect">
            <a:avLst>
              <a:gd name="adj" fmla="val 25000"/>
            </a:avLst>
          </a:prstGeom>
          <a:solidFill>
            <a:srgbClr val="E3EEF8"/>
          </a:solidFill>
          <a:ln w="9525">
            <a:solidFill>
              <a:srgbClr val="E3EEF8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7280453" y="30175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</a:t>
            </a:r>
            <a:endParaRPr lang="en-US" sz="950" dirty="0"/>
          </a:p>
        </p:txBody>
      </p:sp>
      <p:sp>
        <p:nvSpPr>
          <p:cNvPr id="51" name="Text 45"/>
          <p:cNvSpPr txBox="1"/>
          <p:nvPr/>
        </p:nvSpPr>
        <p:spPr>
          <a:xfrm>
            <a:off x="7253021" y="3264408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 kW</a:t>
            </a:r>
            <a:endParaRPr lang="en-US" sz="750" dirty="0"/>
          </a:p>
        </p:txBody>
      </p:sp>
      <p:sp>
        <p:nvSpPr>
          <p:cNvPr id="52" name="Shape 46"/>
          <p:cNvSpPr/>
          <p:nvPr/>
        </p:nvSpPr>
        <p:spPr>
          <a:xfrm>
            <a:off x="7752283" y="2990088"/>
            <a:ext cx="438912" cy="566928"/>
          </a:xfrm>
          <a:prstGeom prst="roundRect">
            <a:avLst>
              <a:gd name="adj" fmla="val 25000"/>
            </a:avLst>
          </a:prstGeom>
          <a:solidFill>
            <a:srgbClr val="E3EEF8"/>
          </a:solidFill>
          <a:ln w="9525">
            <a:solidFill>
              <a:srgbClr val="E3EEF8"/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7752283" y="30175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</a:t>
            </a:r>
            <a:endParaRPr lang="en-US" sz="950" dirty="0"/>
          </a:p>
        </p:txBody>
      </p:sp>
      <p:sp>
        <p:nvSpPr>
          <p:cNvPr id="54" name="Text 48"/>
          <p:cNvSpPr txBox="1"/>
          <p:nvPr/>
        </p:nvSpPr>
        <p:spPr>
          <a:xfrm>
            <a:off x="7724851" y="3264408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 kW</a:t>
            </a:r>
            <a:endParaRPr lang="en-US" sz="750" dirty="0"/>
          </a:p>
        </p:txBody>
      </p:sp>
      <p:sp>
        <p:nvSpPr>
          <p:cNvPr id="55" name="Shape 49"/>
          <p:cNvSpPr/>
          <p:nvPr/>
        </p:nvSpPr>
        <p:spPr>
          <a:xfrm>
            <a:off x="8224114" y="2990088"/>
            <a:ext cx="438912" cy="566928"/>
          </a:xfrm>
          <a:prstGeom prst="roundRect">
            <a:avLst>
              <a:gd name="adj" fmla="val 25000"/>
            </a:avLst>
          </a:prstGeom>
          <a:solidFill>
            <a:srgbClr val="E3EEF8"/>
          </a:solidFill>
          <a:ln w="9525">
            <a:solidFill>
              <a:srgbClr val="E3EEF8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8224114" y="30175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</a:t>
            </a:r>
            <a:endParaRPr lang="en-US" sz="950" dirty="0"/>
          </a:p>
        </p:txBody>
      </p:sp>
      <p:sp>
        <p:nvSpPr>
          <p:cNvPr id="57" name="Text 51"/>
          <p:cNvSpPr txBox="1"/>
          <p:nvPr/>
        </p:nvSpPr>
        <p:spPr>
          <a:xfrm>
            <a:off x="8196682" y="3264408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kW</a:t>
            </a:r>
            <a:endParaRPr lang="en-US" sz="750" dirty="0"/>
          </a:p>
        </p:txBody>
      </p:sp>
      <p:sp>
        <p:nvSpPr>
          <p:cNvPr id="58" name="Shape 52"/>
          <p:cNvSpPr/>
          <p:nvPr/>
        </p:nvSpPr>
        <p:spPr>
          <a:xfrm>
            <a:off x="9025128" y="1600200"/>
            <a:ext cx="262432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DE4EA"/>
            </a:solidFill>
            <a:prstDash val="solid"/>
          </a:ln>
        </p:spPr>
      </p:sp>
      <p:pic>
        <p:nvPicPr>
          <p:cNvPr id="5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2288" y="1719072"/>
            <a:ext cx="237744" cy="237744"/>
          </a:xfrm>
          <a:prstGeom prst="rect">
            <a:avLst/>
          </a:prstGeom>
        </p:spPr>
      </p:pic>
      <p:sp>
        <p:nvSpPr>
          <p:cNvPr id="60" name="Text 53"/>
          <p:cNvSpPr txBox="1"/>
          <p:nvPr/>
        </p:nvSpPr>
        <p:spPr>
          <a:xfrm>
            <a:off x="9482328" y="169164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PV-Automatik</a:t>
            </a:r>
            <a:endParaRPr lang="en-US" sz="1200" dirty="0"/>
          </a:p>
        </p:txBody>
      </p:sp>
      <p:sp>
        <p:nvSpPr>
          <p:cNvPr id="61" name="Shape 54"/>
          <p:cNvSpPr/>
          <p:nvPr/>
        </p:nvSpPr>
        <p:spPr>
          <a:xfrm>
            <a:off x="9162288" y="2075688"/>
            <a:ext cx="2350008" cy="566928"/>
          </a:xfrm>
          <a:prstGeom prst="roundRect">
            <a:avLst>
              <a:gd name="adj" fmla="val 19355"/>
            </a:avLst>
          </a:prstGeom>
          <a:solidFill>
            <a:srgbClr val="E3F4EA"/>
          </a:solidFill>
          <a:ln w="9525">
            <a:solidFill>
              <a:srgbClr val="9ED3B3"/>
            </a:solidFill>
            <a:prstDash val="solid"/>
          </a:ln>
        </p:spPr>
      </p:sp>
      <p:sp>
        <p:nvSpPr>
          <p:cNvPr id="62" name="Text 55"/>
          <p:cNvSpPr txBox="1"/>
          <p:nvPr/>
        </p:nvSpPr>
        <p:spPr>
          <a:xfrm>
            <a:off x="9299448" y="210312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PV-Automatik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· ab 4,3 kW</a:t>
            </a:r>
            <a:endParaRPr lang="en-US" sz="1000" dirty="0"/>
          </a:p>
        </p:txBody>
      </p:sp>
      <p:sp>
        <p:nvSpPr>
          <p:cNvPr id="63" name="Shape 56"/>
          <p:cNvSpPr/>
          <p:nvPr/>
        </p:nvSpPr>
        <p:spPr>
          <a:xfrm>
            <a:off x="10899648" y="2240280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11164824" y="226771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9162288" y="2734056"/>
            <a:ext cx="2350008" cy="822960"/>
          </a:xfrm>
          <a:prstGeom prst="roundRect">
            <a:avLst>
              <a:gd name="adj" fmla="val 13333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66" name="Text 59"/>
          <p:cNvSpPr txBox="1"/>
          <p:nvPr/>
        </p:nvSpPr>
        <p:spPr>
          <a:xfrm>
            <a:off x="9299448" y="2770632"/>
            <a:ext cx="2121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der eigenen PV-Regelung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Lädt · Ziel 10 A · gesetzt 10 A · 7,2 kW verfügbar</a:t>
            </a:r>
            <a:endParaRPr lang="en-US" sz="950" dirty="0"/>
          </a:p>
        </p:txBody>
      </p:sp>
      <p:sp>
        <p:nvSpPr>
          <p:cNvPr id="67" name="Shape 60"/>
          <p:cNvSpPr/>
          <p:nvPr/>
        </p:nvSpPr>
        <p:spPr>
          <a:xfrm>
            <a:off x="548640" y="3886200"/>
            <a:ext cx="262432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DE4EA"/>
            </a:solidFill>
            <a:prstDash val="solid"/>
          </a:ln>
        </p:spPr>
      </p:sp>
      <p:pic>
        <p:nvPicPr>
          <p:cNvPr id="6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005072"/>
            <a:ext cx="237744" cy="237744"/>
          </a:xfrm>
          <a:prstGeom prst="rect">
            <a:avLst/>
          </a:prstGeom>
        </p:spPr>
      </p:pic>
      <p:sp>
        <p:nvSpPr>
          <p:cNvPr id="69" name="Text 61"/>
          <p:cNvSpPr txBox="1"/>
          <p:nvPr/>
        </p:nvSpPr>
        <p:spPr>
          <a:xfrm>
            <a:off x="1005840" y="397764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PV-Schwellen</a:t>
            </a:r>
            <a:endParaRPr lang="en-US" sz="1200" dirty="0"/>
          </a:p>
        </p:txBody>
      </p:sp>
      <p:sp>
        <p:nvSpPr>
          <p:cNvPr id="70" name="Shape 62"/>
          <p:cNvSpPr/>
          <p:nvPr/>
        </p:nvSpPr>
        <p:spPr>
          <a:xfrm>
            <a:off x="685800" y="4361688"/>
            <a:ext cx="548640" cy="457200"/>
          </a:xfrm>
          <a:prstGeom prst="roundRect">
            <a:avLst>
              <a:gd name="adj" fmla="val 24000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71" name="Text 63"/>
          <p:cNvSpPr txBox="1"/>
          <p:nvPr/>
        </p:nvSpPr>
        <p:spPr>
          <a:xfrm>
            <a:off x="685800" y="43616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−100</a:t>
            </a:r>
            <a:endParaRPr lang="en-US" sz="900" dirty="0"/>
          </a:p>
        </p:txBody>
      </p:sp>
      <p:sp>
        <p:nvSpPr>
          <p:cNvPr id="72" name="Shape 64"/>
          <p:cNvSpPr/>
          <p:nvPr/>
        </p:nvSpPr>
        <p:spPr>
          <a:xfrm>
            <a:off x="1298448" y="4361688"/>
            <a:ext cx="1124712" cy="457200"/>
          </a:xfrm>
          <a:prstGeom prst="roundRect">
            <a:avLst>
              <a:gd name="adj" fmla="val 24000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73" name="Text 65"/>
          <p:cNvSpPr txBox="1"/>
          <p:nvPr/>
        </p:nvSpPr>
        <p:spPr>
          <a:xfrm>
            <a:off x="1298448" y="4379976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4,30 kW</a:t>
            </a:r>
            <a:endParaRPr lang="en-US" sz="1000" dirty="0"/>
          </a:p>
        </p:txBody>
      </p:sp>
      <p:sp>
        <p:nvSpPr>
          <p:cNvPr id="74" name="Text 66"/>
          <p:cNvSpPr txBox="1"/>
          <p:nvPr/>
        </p:nvSpPr>
        <p:spPr>
          <a:xfrm>
            <a:off x="1298448" y="459943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Startschwelle</a:t>
            </a:r>
            <a:endParaRPr lang="en-US" sz="800" dirty="0"/>
          </a:p>
        </p:txBody>
      </p:sp>
      <p:sp>
        <p:nvSpPr>
          <p:cNvPr id="75" name="Shape 67"/>
          <p:cNvSpPr/>
          <p:nvPr/>
        </p:nvSpPr>
        <p:spPr>
          <a:xfrm>
            <a:off x="2487168" y="4361688"/>
            <a:ext cx="548640" cy="457200"/>
          </a:xfrm>
          <a:prstGeom prst="roundRect">
            <a:avLst>
              <a:gd name="adj" fmla="val 24000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76" name="Text 68"/>
          <p:cNvSpPr txBox="1"/>
          <p:nvPr/>
        </p:nvSpPr>
        <p:spPr>
          <a:xfrm>
            <a:off x="2487168" y="43616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</a:t>
            </a:r>
            <a:endParaRPr lang="en-US" sz="900" dirty="0"/>
          </a:p>
        </p:txBody>
      </p:sp>
      <p:sp>
        <p:nvSpPr>
          <p:cNvPr id="77" name="Shape 69"/>
          <p:cNvSpPr/>
          <p:nvPr/>
        </p:nvSpPr>
        <p:spPr>
          <a:xfrm>
            <a:off x="685800" y="4910328"/>
            <a:ext cx="548640" cy="457200"/>
          </a:xfrm>
          <a:prstGeom prst="roundRect">
            <a:avLst>
              <a:gd name="adj" fmla="val 24000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78" name="Text 70"/>
          <p:cNvSpPr txBox="1"/>
          <p:nvPr/>
        </p:nvSpPr>
        <p:spPr>
          <a:xfrm>
            <a:off x="685800" y="49103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−100</a:t>
            </a:r>
            <a:endParaRPr lang="en-US" sz="900" dirty="0"/>
          </a:p>
        </p:txBody>
      </p:sp>
      <p:sp>
        <p:nvSpPr>
          <p:cNvPr id="79" name="Shape 71"/>
          <p:cNvSpPr/>
          <p:nvPr/>
        </p:nvSpPr>
        <p:spPr>
          <a:xfrm>
            <a:off x="1298448" y="4910328"/>
            <a:ext cx="1124712" cy="457200"/>
          </a:xfrm>
          <a:prstGeom prst="roundRect">
            <a:avLst>
              <a:gd name="adj" fmla="val 24000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80" name="Text 72"/>
          <p:cNvSpPr txBox="1"/>
          <p:nvPr/>
        </p:nvSpPr>
        <p:spPr>
          <a:xfrm>
            <a:off x="1298448" y="4928616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 kW</a:t>
            </a:r>
            <a:endParaRPr lang="en-US" sz="1000" dirty="0"/>
          </a:p>
        </p:txBody>
      </p:sp>
      <p:sp>
        <p:nvSpPr>
          <p:cNvPr id="81" name="Text 73"/>
          <p:cNvSpPr txBox="1"/>
          <p:nvPr/>
        </p:nvSpPr>
        <p:spPr>
          <a:xfrm>
            <a:off x="1298448" y="5148072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Stoppschwelle</a:t>
            </a:r>
            <a:endParaRPr lang="en-US" sz="800" dirty="0"/>
          </a:p>
        </p:txBody>
      </p:sp>
      <p:sp>
        <p:nvSpPr>
          <p:cNvPr id="82" name="Shape 74"/>
          <p:cNvSpPr/>
          <p:nvPr/>
        </p:nvSpPr>
        <p:spPr>
          <a:xfrm>
            <a:off x="2487168" y="4910328"/>
            <a:ext cx="548640" cy="457200"/>
          </a:xfrm>
          <a:prstGeom prst="roundRect">
            <a:avLst>
              <a:gd name="adj" fmla="val 24000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83" name="Text 75"/>
          <p:cNvSpPr txBox="1"/>
          <p:nvPr/>
        </p:nvSpPr>
        <p:spPr>
          <a:xfrm>
            <a:off x="2487168" y="49103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</a:t>
            </a:r>
            <a:endParaRPr lang="en-US" sz="900" dirty="0"/>
          </a:p>
        </p:txBody>
      </p:sp>
      <p:sp>
        <p:nvSpPr>
          <p:cNvPr id="84" name="Shape 76"/>
          <p:cNvSpPr/>
          <p:nvPr/>
        </p:nvSpPr>
        <p:spPr>
          <a:xfrm>
            <a:off x="685800" y="5468112"/>
            <a:ext cx="749808" cy="329184"/>
          </a:xfrm>
          <a:prstGeom prst="roundRect">
            <a:avLst>
              <a:gd name="adj" fmla="val 33333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85" name="Text 77"/>
          <p:cNvSpPr txBox="1"/>
          <p:nvPr/>
        </p:nvSpPr>
        <p:spPr>
          <a:xfrm>
            <a:off x="685800" y="546811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Sparsam</a:t>
            </a:r>
            <a:endParaRPr lang="en-US" sz="850" dirty="0"/>
          </a:p>
        </p:txBody>
      </p:sp>
      <p:sp>
        <p:nvSpPr>
          <p:cNvPr id="86" name="Shape 78"/>
          <p:cNvSpPr/>
          <p:nvPr/>
        </p:nvSpPr>
        <p:spPr>
          <a:xfrm>
            <a:off x="1479499" y="5468112"/>
            <a:ext cx="749808" cy="329184"/>
          </a:xfrm>
          <a:prstGeom prst="roundRect">
            <a:avLst>
              <a:gd name="adj" fmla="val 33333"/>
            </a:avLst>
          </a:prstGeom>
          <a:solidFill>
            <a:srgbClr val="E3F4EA"/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87" name="Text 79"/>
          <p:cNvSpPr txBox="1"/>
          <p:nvPr/>
        </p:nvSpPr>
        <p:spPr>
          <a:xfrm>
            <a:off x="1479499" y="546811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Ausgewogen</a:t>
            </a:r>
            <a:endParaRPr lang="en-US" sz="850" dirty="0"/>
          </a:p>
        </p:txBody>
      </p:sp>
      <p:sp>
        <p:nvSpPr>
          <p:cNvPr id="88" name="Shape 80"/>
          <p:cNvSpPr/>
          <p:nvPr/>
        </p:nvSpPr>
        <p:spPr>
          <a:xfrm>
            <a:off x="2273198" y="5468112"/>
            <a:ext cx="749808" cy="329184"/>
          </a:xfrm>
          <a:prstGeom prst="roundRect">
            <a:avLst>
              <a:gd name="adj" fmla="val 33333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89" name="Text 81"/>
          <p:cNvSpPr txBox="1"/>
          <p:nvPr/>
        </p:nvSpPr>
        <p:spPr>
          <a:xfrm>
            <a:off x="2273198" y="546811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laden</a:t>
            </a:r>
            <a:endParaRPr lang="en-US" sz="850" dirty="0"/>
          </a:p>
        </p:txBody>
      </p:sp>
      <p:sp>
        <p:nvSpPr>
          <p:cNvPr id="90" name="Shape 82"/>
          <p:cNvSpPr/>
          <p:nvPr/>
        </p:nvSpPr>
        <p:spPr>
          <a:xfrm>
            <a:off x="3374136" y="3886200"/>
            <a:ext cx="262432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DE4EA"/>
            </a:solidFill>
            <a:prstDash val="solid"/>
          </a:ln>
        </p:spPr>
      </p:sp>
      <p:pic>
        <p:nvPicPr>
          <p:cNvPr id="9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1296" y="4005072"/>
            <a:ext cx="237744" cy="237744"/>
          </a:xfrm>
          <a:prstGeom prst="rect">
            <a:avLst/>
          </a:prstGeom>
        </p:spPr>
      </p:pic>
      <p:sp>
        <p:nvSpPr>
          <p:cNvPr id="92" name="Text 83"/>
          <p:cNvSpPr txBox="1"/>
          <p:nvPr/>
        </p:nvSpPr>
        <p:spPr>
          <a:xfrm>
            <a:off x="3831336" y="397764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AC-Ladekurve</a:t>
            </a:r>
            <a:endParaRPr lang="en-US" sz="1200" dirty="0"/>
          </a:p>
        </p:txBody>
      </p:sp>
      <p:graphicFrame>
        <p:nvGraphicFramePr>
          <p:cNvPr id="93" name="Chart 0"/>
          <p:cNvGraphicFramePr/>
          <p:nvPr/>
        </p:nvGraphicFramePr>
        <p:xfrm>
          <a:off x="3465576" y="4297680"/>
          <a:ext cx="2441448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94" name="Shape 84"/>
          <p:cNvSpPr/>
          <p:nvPr/>
        </p:nvSpPr>
        <p:spPr>
          <a:xfrm>
            <a:off x="6199632" y="3886200"/>
            <a:ext cx="262432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DE4EA"/>
            </a:solidFill>
            <a:prstDash val="solid"/>
          </a:ln>
        </p:spPr>
      </p:sp>
      <p:pic>
        <p:nvPicPr>
          <p:cNvPr id="95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6792" y="4005072"/>
            <a:ext cx="237744" cy="237744"/>
          </a:xfrm>
          <a:prstGeom prst="rect">
            <a:avLst/>
          </a:prstGeom>
        </p:spPr>
      </p:pic>
      <p:sp>
        <p:nvSpPr>
          <p:cNvPr id="96" name="Text 85"/>
          <p:cNvSpPr txBox="1"/>
          <p:nvPr/>
        </p:nvSpPr>
        <p:spPr>
          <a:xfrm>
            <a:off x="6656832" y="397764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Regelungslog</a:t>
            </a:r>
            <a:endParaRPr lang="en-US" sz="1200" dirty="0"/>
          </a:p>
        </p:txBody>
      </p:sp>
      <p:sp>
        <p:nvSpPr>
          <p:cNvPr id="97" name="Shape 86"/>
          <p:cNvSpPr/>
          <p:nvPr/>
        </p:nvSpPr>
        <p:spPr>
          <a:xfrm>
            <a:off x="6382512" y="4434840"/>
            <a:ext cx="109728" cy="109728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98" name="Text 87"/>
          <p:cNvSpPr txBox="1"/>
          <p:nvPr/>
        </p:nvSpPr>
        <p:spPr>
          <a:xfrm>
            <a:off x="6583680" y="436168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hochgeregelt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 → 10 A nach 60 s</a:t>
            </a:r>
            <a:endParaRPr lang="en-US" sz="950" dirty="0"/>
          </a:p>
        </p:txBody>
      </p:sp>
      <p:sp>
        <p:nvSpPr>
          <p:cNvPr id="99" name="Shape 88"/>
          <p:cNvSpPr/>
          <p:nvPr/>
        </p:nvSpPr>
        <p:spPr>
          <a:xfrm>
            <a:off x="6382512" y="4928616"/>
            <a:ext cx="109728" cy="109728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00" name="Text 89"/>
          <p:cNvSpPr txBox="1"/>
          <p:nvPr/>
        </p:nvSpPr>
        <p:spPr>
          <a:xfrm>
            <a:off x="6583680" y="4855464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AC-Ladesitzung gestartet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Recorder-Ladekurve läuft</a:t>
            </a:r>
            <a:endParaRPr lang="en-US" sz="950" dirty="0"/>
          </a:p>
        </p:txBody>
      </p:sp>
      <p:sp>
        <p:nvSpPr>
          <p:cNvPr id="101" name="Shape 90"/>
          <p:cNvSpPr/>
          <p:nvPr/>
        </p:nvSpPr>
        <p:spPr>
          <a:xfrm>
            <a:off x="6382512" y="5422392"/>
            <a:ext cx="109728" cy="109728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02" name="Text 91"/>
          <p:cNvSpPr txBox="1"/>
          <p:nvPr/>
        </p:nvSpPr>
        <p:spPr>
          <a:xfrm>
            <a:off x="6583680" y="534924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PV-Start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Ladeannahme-Test 90 s gestartet</a:t>
            </a:r>
            <a:endParaRPr lang="en-US" sz="950" dirty="0"/>
          </a:p>
        </p:txBody>
      </p:sp>
      <p:sp>
        <p:nvSpPr>
          <p:cNvPr id="103" name="Shape 92"/>
          <p:cNvSpPr/>
          <p:nvPr/>
        </p:nvSpPr>
        <p:spPr>
          <a:xfrm>
            <a:off x="9025128" y="3886200"/>
            <a:ext cx="262432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DE4EA"/>
            </a:solidFill>
            <a:prstDash val="solid"/>
          </a:ln>
        </p:spPr>
      </p:sp>
      <p:pic>
        <p:nvPicPr>
          <p:cNvPr id="104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2288" y="4005072"/>
            <a:ext cx="237744" cy="237744"/>
          </a:xfrm>
          <a:prstGeom prst="rect">
            <a:avLst/>
          </a:prstGeom>
        </p:spPr>
      </p:pic>
      <p:sp>
        <p:nvSpPr>
          <p:cNvPr id="105" name="Text 93"/>
          <p:cNvSpPr txBox="1"/>
          <p:nvPr/>
        </p:nvSpPr>
        <p:spPr>
          <a:xfrm>
            <a:off x="9482328" y="397764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&amp; Diagnose</a:t>
            </a:r>
            <a:endParaRPr lang="en-US" sz="1200" dirty="0"/>
          </a:p>
        </p:txBody>
      </p:sp>
      <p:sp>
        <p:nvSpPr>
          <p:cNvPr id="106" name="Shape 94"/>
          <p:cNvSpPr/>
          <p:nvPr/>
        </p:nvSpPr>
        <p:spPr>
          <a:xfrm>
            <a:off x="9162288" y="4343400"/>
            <a:ext cx="1133856" cy="438912"/>
          </a:xfrm>
          <a:prstGeom prst="roundRect">
            <a:avLst>
              <a:gd name="adj" fmla="val 25000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107" name="Text 95"/>
          <p:cNvSpPr txBox="1"/>
          <p:nvPr/>
        </p:nvSpPr>
        <p:spPr>
          <a:xfrm>
            <a:off x="9235440" y="437083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PV-Automatik</a:t>
            </a:r>
            <a:endParaRPr lang="en-US" sz="750" dirty="0"/>
          </a:p>
        </p:txBody>
      </p:sp>
      <p:sp>
        <p:nvSpPr>
          <p:cNvPr id="108" name="Text 96"/>
          <p:cNvSpPr txBox="1"/>
          <p:nvPr/>
        </p:nvSpPr>
        <p:spPr>
          <a:xfrm>
            <a:off x="9235440" y="454456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endParaRPr lang="en-US" sz="1000" dirty="0"/>
          </a:p>
        </p:txBody>
      </p:sp>
      <p:sp>
        <p:nvSpPr>
          <p:cNvPr id="109" name="Shape 97"/>
          <p:cNvSpPr/>
          <p:nvPr/>
        </p:nvSpPr>
        <p:spPr>
          <a:xfrm>
            <a:off x="10351008" y="4343400"/>
            <a:ext cx="1133856" cy="438912"/>
          </a:xfrm>
          <a:prstGeom prst="roundRect">
            <a:avLst>
              <a:gd name="adj" fmla="val 25000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110" name="Text 98"/>
          <p:cNvSpPr txBox="1"/>
          <p:nvPr/>
        </p:nvSpPr>
        <p:spPr>
          <a:xfrm>
            <a:off x="10424160" y="437083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Tuya-PV-Regler</a:t>
            </a:r>
            <a:endParaRPr lang="en-US" sz="750" dirty="0"/>
          </a:p>
        </p:txBody>
      </p:sp>
      <p:sp>
        <p:nvSpPr>
          <p:cNvPr id="111" name="Text 99"/>
          <p:cNvSpPr txBox="1"/>
          <p:nvPr/>
        </p:nvSpPr>
        <p:spPr>
          <a:xfrm>
            <a:off x="10424160" y="454456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</a:t>
            </a:r>
            <a:endParaRPr lang="en-US" sz="1000" dirty="0"/>
          </a:p>
        </p:txBody>
      </p:sp>
      <p:sp>
        <p:nvSpPr>
          <p:cNvPr id="112" name="Shape 100"/>
          <p:cNvSpPr/>
          <p:nvPr/>
        </p:nvSpPr>
        <p:spPr>
          <a:xfrm>
            <a:off x="9162288" y="4846320"/>
            <a:ext cx="1133856" cy="438912"/>
          </a:xfrm>
          <a:prstGeom prst="roundRect">
            <a:avLst>
              <a:gd name="adj" fmla="val 25000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113" name="Text 101"/>
          <p:cNvSpPr txBox="1"/>
          <p:nvPr/>
        </p:nvSpPr>
        <p:spPr>
          <a:xfrm>
            <a:off x="9235440" y="4873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PV-Pause</a:t>
            </a:r>
            <a:endParaRPr lang="en-US" sz="750" dirty="0"/>
          </a:p>
        </p:txBody>
      </p:sp>
      <p:sp>
        <p:nvSpPr>
          <p:cNvPr id="114" name="Text 102"/>
          <p:cNvSpPr txBox="1"/>
          <p:nvPr/>
        </p:nvSpPr>
        <p:spPr>
          <a:xfrm>
            <a:off x="9235440" y="50474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inaktiv</a:t>
            </a:r>
            <a:endParaRPr lang="en-US" sz="1000" dirty="0"/>
          </a:p>
        </p:txBody>
      </p:sp>
      <p:sp>
        <p:nvSpPr>
          <p:cNvPr id="115" name="Shape 103"/>
          <p:cNvSpPr/>
          <p:nvPr/>
        </p:nvSpPr>
        <p:spPr>
          <a:xfrm>
            <a:off x="10351008" y="4846320"/>
            <a:ext cx="1133856" cy="438912"/>
          </a:xfrm>
          <a:prstGeom prst="roundRect">
            <a:avLst>
              <a:gd name="adj" fmla="val 25000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116" name="Text 104"/>
          <p:cNvSpPr txBox="1"/>
          <p:nvPr/>
        </p:nvSpPr>
        <p:spPr>
          <a:xfrm>
            <a:off x="10424160" y="487375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voll</a:t>
            </a:r>
            <a:endParaRPr lang="en-US" sz="750" dirty="0"/>
          </a:p>
        </p:txBody>
      </p:sp>
      <p:sp>
        <p:nvSpPr>
          <p:cNvPr id="117" name="Text 105"/>
          <p:cNvSpPr txBox="1"/>
          <p:nvPr/>
        </p:nvSpPr>
        <p:spPr>
          <a:xfrm>
            <a:off x="10424160" y="50474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</a:t>
            </a:r>
            <a:endParaRPr lang="en-US" sz="1000" dirty="0"/>
          </a:p>
        </p:txBody>
      </p:sp>
      <p:sp>
        <p:nvSpPr>
          <p:cNvPr id="118" name="Shape 106"/>
          <p:cNvSpPr/>
          <p:nvPr/>
        </p:nvSpPr>
        <p:spPr>
          <a:xfrm>
            <a:off x="9162288" y="5349240"/>
            <a:ext cx="1133856" cy="438912"/>
          </a:xfrm>
          <a:prstGeom prst="roundRect">
            <a:avLst>
              <a:gd name="adj" fmla="val 25000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119" name="Text 107"/>
          <p:cNvSpPr txBox="1"/>
          <p:nvPr/>
        </p:nvSpPr>
        <p:spPr>
          <a:xfrm>
            <a:off x="9235440" y="537667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Ladeannahme-Test</a:t>
            </a:r>
            <a:endParaRPr lang="en-US" sz="750" dirty="0"/>
          </a:p>
        </p:txBody>
      </p:sp>
      <p:sp>
        <p:nvSpPr>
          <p:cNvPr id="120" name="Text 108"/>
          <p:cNvSpPr txBox="1"/>
          <p:nvPr/>
        </p:nvSpPr>
        <p:spPr>
          <a:xfrm>
            <a:off x="9235440" y="555040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inaktiv</a:t>
            </a:r>
            <a:endParaRPr lang="en-US" sz="1000" dirty="0"/>
          </a:p>
        </p:txBody>
      </p:sp>
      <p:sp>
        <p:nvSpPr>
          <p:cNvPr id="121" name="Shape 109"/>
          <p:cNvSpPr/>
          <p:nvPr/>
        </p:nvSpPr>
        <p:spPr>
          <a:xfrm>
            <a:off x="10351008" y="5349240"/>
            <a:ext cx="1133856" cy="438912"/>
          </a:xfrm>
          <a:prstGeom prst="roundRect">
            <a:avLst>
              <a:gd name="adj" fmla="val 25000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122" name="Text 110"/>
          <p:cNvSpPr txBox="1"/>
          <p:nvPr/>
        </p:nvSpPr>
        <p:spPr>
          <a:xfrm>
            <a:off x="10424160" y="537667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Zielstrom /690</a:t>
            </a:r>
            <a:endParaRPr lang="en-US" sz="750" dirty="0"/>
          </a:p>
        </p:txBody>
      </p:sp>
      <p:sp>
        <p:nvSpPr>
          <p:cNvPr id="123" name="Text 111"/>
          <p:cNvSpPr txBox="1"/>
          <p:nvPr/>
        </p:nvSpPr>
        <p:spPr>
          <a:xfrm>
            <a:off x="10424160" y="555040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</a:t>
            </a:r>
            <a:endParaRPr lang="en-US" sz="1000" dirty="0"/>
          </a:p>
        </p:txBody>
      </p:sp>
      <p:sp>
        <p:nvSpPr>
          <p:cNvPr id="124" name="Shape 112"/>
          <p:cNvSpPr/>
          <p:nvPr/>
        </p:nvSpPr>
        <p:spPr>
          <a:xfrm>
            <a:off x="548640" y="5989320"/>
            <a:ext cx="8138160" cy="310896"/>
          </a:xfrm>
          <a:prstGeom prst="roundRect">
            <a:avLst>
              <a:gd name="adj" fmla="val 35294"/>
            </a:avLst>
          </a:prstGeom>
          <a:solidFill>
            <a:srgbClr val="F3F6F9"/>
          </a:solidFill>
          <a:ln w="9525">
            <a:solidFill>
              <a:srgbClr val="DDE4EA"/>
            </a:solidFill>
            <a:prstDash val="solid"/>
          </a:ln>
        </p:spPr>
      </p:sp>
      <p:pic>
        <p:nvPicPr>
          <p:cNvPr id="125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" y="6053328"/>
            <a:ext cx="182880" cy="182880"/>
          </a:xfrm>
          <a:prstGeom prst="rect">
            <a:avLst/>
          </a:prstGeom>
        </p:spPr>
      </p:pic>
      <p:sp>
        <p:nvSpPr>
          <p:cNvPr id="126" name="Text 113"/>
          <p:cNvSpPr txBox="1"/>
          <p:nvPr/>
        </p:nvSpPr>
        <p:spPr>
          <a:xfrm>
            <a:off x="896112" y="5989320"/>
            <a:ext cx="7699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Vereinfachtes Mockup auf Basis der Dashboard-YAML (Interpretation) – alle Werte beispielhaft, kein Screenshot.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Erkenntnisse aus dem Projekt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PV-Überschussladen mit Home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64792"/>
            <a:ext cx="457200" cy="457200"/>
          </a:xfrm>
          <a:prstGeom prst="ellipse">
            <a:avLst/>
          </a:prstGeom>
          <a:solidFill>
            <a:srgbClr val="1F6FB2"/>
          </a:solidFill>
          <a:ln w="6350">
            <a:solidFill>
              <a:srgbClr val="1F6FB2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865376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7647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Regelungsdesign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" y="2377440"/>
            <a:ext cx="384048" cy="256032"/>
          </a:xfrm>
          <a:prstGeom prst="roundRect">
            <a:avLst>
              <a:gd name="adj" fmla="val 28571"/>
            </a:avLst>
          </a:prstGeom>
          <a:solidFill>
            <a:srgbClr val="E3EEF8"/>
          </a:solidFill>
          <a:ln w="9525">
            <a:solidFill>
              <a:srgbClr val="1F6FB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377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298448" y="235000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Regelung braucht genau eine führende Instanz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" y="2706624"/>
            <a:ext cx="384048" cy="256032"/>
          </a:xfrm>
          <a:prstGeom prst="roundRect">
            <a:avLst>
              <a:gd name="adj" fmla="val 28571"/>
            </a:avLst>
          </a:prstGeom>
          <a:solidFill>
            <a:srgbClr val="E3EEF8"/>
          </a:solidFill>
          <a:ln w="9525">
            <a:solidFill>
              <a:srgbClr val="1F6FB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70662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1298448" y="267919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Asymmetrische Verzögerungen machen die Regelung stabil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7240" y="3035808"/>
            <a:ext cx="384048" cy="256032"/>
          </a:xfrm>
          <a:prstGeom prst="roundRect">
            <a:avLst>
              <a:gd name="adj" fmla="val 28571"/>
            </a:avLst>
          </a:prstGeom>
          <a:solidFill>
            <a:srgbClr val="E3EEF8"/>
          </a:solidFill>
          <a:ln w="9525">
            <a:solidFill>
              <a:srgbClr val="1F6FB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30358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1298448" y="300837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Kontrollierter Netzbezug kann Teil der Strategie sein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77240" y="3364992"/>
            <a:ext cx="384048" cy="256032"/>
          </a:xfrm>
          <a:prstGeom prst="roundRect">
            <a:avLst>
              <a:gd name="adj" fmla="val 28571"/>
            </a:avLst>
          </a:prstGeom>
          <a:solidFill>
            <a:srgbClr val="E3EEF8"/>
          </a:solidFill>
          <a:ln w="9525">
            <a:solidFill>
              <a:srgbClr val="1F6FB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33649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1298448" y="333756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„Auto voll“ als eigenen Zustand behandeln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199632" y="160020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82512" y="1764792"/>
            <a:ext cx="457200" cy="457200"/>
          </a:xfrm>
          <a:prstGeom prst="ellipse">
            <a:avLst/>
          </a:prstGeom>
          <a:solidFill>
            <a:srgbClr val="E8A800"/>
          </a:solidFill>
          <a:ln w="6350">
            <a:solidFill>
              <a:srgbClr val="E8A800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1865376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976872" y="17647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Physik &amp; Messung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6428232" y="2377440"/>
            <a:ext cx="384048" cy="256032"/>
          </a:xfrm>
          <a:prstGeom prst="roundRect">
            <a:avLst>
              <a:gd name="adj" fmla="val 28571"/>
            </a:avLst>
          </a:prstGeom>
          <a:solidFill>
            <a:srgbClr val="FFF4D1"/>
          </a:solidFill>
          <a:ln w="9525">
            <a:solidFill>
              <a:srgbClr val="E8A800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428232" y="2377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6949440" y="235000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Messgrößen müssen physikalisch korrekt sein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6428232" y="2706624"/>
            <a:ext cx="384048" cy="256032"/>
          </a:xfrm>
          <a:prstGeom prst="roundRect">
            <a:avLst>
              <a:gd name="adj" fmla="val 28571"/>
            </a:avLst>
          </a:prstGeom>
          <a:solidFill>
            <a:srgbClr val="FFF4D1"/>
          </a:solidFill>
          <a:ln w="9525">
            <a:solidFill>
              <a:srgbClr val="E8A800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428232" y="270662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31" name="Text 27"/>
          <p:cNvSpPr txBox="1"/>
          <p:nvPr/>
        </p:nvSpPr>
        <p:spPr>
          <a:xfrm>
            <a:off x="6949440" y="267919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3-phasig muss auch 3-phasig gerechnet werden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6428232" y="3035808"/>
            <a:ext cx="384048" cy="256032"/>
          </a:xfrm>
          <a:prstGeom prst="roundRect">
            <a:avLst>
              <a:gd name="adj" fmla="val 28571"/>
            </a:avLst>
          </a:prstGeom>
          <a:solidFill>
            <a:srgbClr val="FFF4D1"/>
          </a:solidFill>
          <a:ln w="9525">
            <a:solidFill>
              <a:srgbClr val="E8A80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428232" y="30358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  <p:sp>
        <p:nvSpPr>
          <p:cNvPr id="34" name="Text 30"/>
          <p:cNvSpPr txBox="1"/>
          <p:nvPr/>
        </p:nvSpPr>
        <p:spPr>
          <a:xfrm>
            <a:off x="6949440" y="300837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App-Anzeigen sind nicht immer Echtzeit-Referenz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6428232" y="3364992"/>
            <a:ext cx="384048" cy="256032"/>
          </a:xfrm>
          <a:prstGeom prst="roundRect">
            <a:avLst>
              <a:gd name="adj" fmla="val 28571"/>
            </a:avLst>
          </a:prstGeom>
          <a:solidFill>
            <a:srgbClr val="FFF4D1"/>
          </a:solidFill>
          <a:ln w="9525">
            <a:solidFill>
              <a:srgbClr val="E8A800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428232" y="33649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  <p:sp>
        <p:nvSpPr>
          <p:cNvPr id="37" name="Text 33"/>
          <p:cNvSpPr txBox="1"/>
          <p:nvPr/>
        </p:nvSpPr>
        <p:spPr>
          <a:xfrm>
            <a:off x="6949440" y="333756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Zähler und Shelly als Plausibilitätscheck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548640" y="384048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731520" y="4005072"/>
            <a:ext cx="457200" cy="457200"/>
          </a:xfrm>
          <a:prstGeom prst="ellipse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105656"/>
            <a:ext cx="256032" cy="256032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1325880" y="4005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 &amp; Fahrzeug</a:t>
            </a:r>
            <a:endParaRPr lang="en-US" sz="1600" dirty="0"/>
          </a:p>
        </p:txBody>
      </p:sp>
      <p:sp>
        <p:nvSpPr>
          <p:cNvPr id="42" name="Shape 37"/>
          <p:cNvSpPr/>
          <p:nvPr/>
        </p:nvSpPr>
        <p:spPr>
          <a:xfrm>
            <a:off x="777240" y="4617720"/>
            <a:ext cx="384048" cy="256032"/>
          </a:xfrm>
          <a:prstGeom prst="roundRect">
            <a:avLst>
              <a:gd name="adj" fmla="val 28571"/>
            </a:avLst>
          </a:prstGeom>
          <a:solidFill>
            <a:srgbClr val="E3F4EA"/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777240" y="46177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44" name="Text 39"/>
          <p:cNvSpPr txBox="1"/>
          <p:nvPr/>
        </p:nvSpPr>
        <p:spPr>
          <a:xfrm>
            <a:off x="1298448" y="459028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Geräte-DPs nicht vorschnell als Hardwaregrenzen deuten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777240" y="4946904"/>
            <a:ext cx="384048" cy="256032"/>
          </a:xfrm>
          <a:prstGeom prst="roundRect">
            <a:avLst>
              <a:gd name="adj" fmla="val 28571"/>
            </a:avLst>
          </a:prstGeom>
          <a:solidFill>
            <a:srgbClr val="E3F4EA"/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777240" y="494690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  <p:sp>
        <p:nvSpPr>
          <p:cNvPr id="47" name="Text 42"/>
          <p:cNvSpPr txBox="1"/>
          <p:nvPr/>
        </p:nvSpPr>
        <p:spPr>
          <a:xfrm>
            <a:off x="1298448" y="491947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Auto entscheidet über die tatsächliche Leistung</a:t>
            </a:r>
            <a:endParaRPr lang="en-US" sz="1300" dirty="0"/>
          </a:p>
        </p:txBody>
      </p:sp>
      <p:sp>
        <p:nvSpPr>
          <p:cNvPr id="48" name="Shape 43"/>
          <p:cNvSpPr/>
          <p:nvPr/>
        </p:nvSpPr>
        <p:spPr>
          <a:xfrm>
            <a:off x="777240" y="5276088"/>
            <a:ext cx="384048" cy="256032"/>
          </a:xfrm>
          <a:prstGeom prst="roundRect">
            <a:avLst>
              <a:gd name="adj" fmla="val 28571"/>
            </a:avLst>
          </a:prstGeom>
          <a:solidFill>
            <a:srgbClr val="E3F4EA"/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777240" y="52760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50" name="Text 45"/>
          <p:cNvSpPr txBox="1"/>
          <p:nvPr/>
        </p:nvSpPr>
        <p:spPr>
          <a:xfrm>
            <a:off x="1298448" y="524865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beobachten, dann unbekannte DPs schreiben</a:t>
            </a:r>
            <a:endParaRPr lang="en-US" sz="1300" dirty="0"/>
          </a:p>
        </p:txBody>
      </p:sp>
      <p:sp>
        <p:nvSpPr>
          <p:cNvPr id="51" name="Shape 46"/>
          <p:cNvSpPr/>
          <p:nvPr/>
        </p:nvSpPr>
        <p:spPr>
          <a:xfrm>
            <a:off x="6199632" y="384048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6382512" y="4005072"/>
            <a:ext cx="457200" cy="457200"/>
          </a:xfrm>
          <a:prstGeom prst="ellipse">
            <a:avLst/>
          </a:prstGeom>
          <a:solidFill>
            <a:srgbClr val="10263B"/>
          </a:solidFill>
          <a:ln w="6350">
            <a:solidFill>
              <a:srgbClr val="10263B"/>
            </a:solidFill>
            <a:prstDash val="solid"/>
          </a:ln>
        </p:spPr>
      </p:sp>
      <p:pic>
        <p:nvPicPr>
          <p:cNvPr id="5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4105656"/>
            <a:ext cx="256032" cy="256032"/>
          </a:xfrm>
          <a:prstGeom prst="rect">
            <a:avLst/>
          </a:prstGeom>
        </p:spPr>
      </p:pic>
      <p:sp>
        <p:nvSpPr>
          <p:cNvPr id="54" name="Text 48"/>
          <p:cNvSpPr txBox="1"/>
          <p:nvPr/>
        </p:nvSpPr>
        <p:spPr>
          <a:xfrm>
            <a:off x="6976872" y="4005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 &amp; Wartbarkeit</a:t>
            </a:r>
            <a:endParaRPr lang="en-US" sz="1600" dirty="0"/>
          </a:p>
        </p:txBody>
      </p:sp>
      <p:sp>
        <p:nvSpPr>
          <p:cNvPr id="55" name="Shape 49"/>
          <p:cNvSpPr/>
          <p:nvPr/>
        </p:nvSpPr>
        <p:spPr>
          <a:xfrm>
            <a:off x="6428232" y="4617720"/>
            <a:ext cx="384048" cy="256032"/>
          </a:xfrm>
          <a:prstGeom prst="roundRect">
            <a:avLst>
              <a:gd name="adj" fmla="val 28571"/>
            </a:avLst>
          </a:prstGeom>
          <a:solidFill>
            <a:srgbClr val="E6EAEE"/>
          </a:solidFill>
          <a:ln w="9525">
            <a:solidFill>
              <a:srgbClr val="10263B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6428232" y="46177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57" name="Text 51"/>
          <p:cNvSpPr txBox="1"/>
          <p:nvPr/>
        </p:nvSpPr>
        <p:spPr>
          <a:xfrm>
            <a:off x="6949440" y="459028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spart massiv Debug-Zeit</a:t>
            </a:r>
            <a:endParaRPr lang="en-US" sz="1300" dirty="0"/>
          </a:p>
        </p:txBody>
      </p:sp>
      <p:sp>
        <p:nvSpPr>
          <p:cNvPr id="58" name="Shape 52"/>
          <p:cNvSpPr/>
          <p:nvPr/>
        </p:nvSpPr>
        <p:spPr>
          <a:xfrm>
            <a:off x="6428232" y="4946904"/>
            <a:ext cx="384048" cy="256032"/>
          </a:xfrm>
          <a:prstGeom prst="roundRect">
            <a:avLst>
              <a:gd name="adj" fmla="val 28571"/>
            </a:avLst>
          </a:prstGeom>
          <a:solidFill>
            <a:srgbClr val="E6EAEE"/>
          </a:solidFill>
          <a:ln w="9525">
            <a:solidFill>
              <a:srgbClr val="10263B"/>
            </a:solidFill>
            <a:prstDash val="solid"/>
          </a:ln>
        </p:spPr>
      </p:sp>
      <p:sp>
        <p:nvSpPr>
          <p:cNvPr id="59" name="Text 53"/>
          <p:cNvSpPr txBox="1"/>
          <p:nvPr/>
        </p:nvSpPr>
        <p:spPr>
          <a:xfrm>
            <a:off x="6428232" y="494690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60" name="Text 54"/>
          <p:cNvSpPr txBox="1"/>
          <p:nvPr/>
        </p:nvSpPr>
        <p:spPr>
          <a:xfrm>
            <a:off x="6949440" y="491947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und Package klar trennen</a:t>
            </a:r>
            <a:endParaRPr lang="en-US" sz="1300" dirty="0"/>
          </a:p>
        </p:txBody>
      </p:sp>
      <p:sp>
        <p:nvSpPr>
          <p:cNvPr id="61" name="Shape 55"/>
          <p:cNvSpPr/>
          <p:nvPr/>
        </p:nvSpPr>
        <p:spPr>
          <a:xfrm>
            <a:off x="6428232" y="5276088"/>
            <a:ext cx="384048" cy="256032"/>
          </a:xfrm>
          <a:prstGeom prst="roundRect">
            <a:avLst>
              <a:gd name="adj" fmla="val 28571"/>
            </a:avLst>
          </a:prstGeom>
          <a:solidFill>
            <a:srgbClr val="E6EAEE"/>
          </a:solidFill>
          <a:ln w="9525">
            <a:solidFill>
              <a:srgbClr val="10263B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6428232" y="52760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63" name="Text 57"/>
          <p:cNvSpPr txBox="1"/>
          <p:nvPr/>
        </p:nvSpPr>
        <p:spPr>
          <a:xfrm>
            <a:off x="6949440" y="524865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Automationen brauchen eine Wiederanlaufstrategie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Nachvollziehbarkeit und Stabilität statt maximaler Komplexität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PV-Überschussladen mit Home Assistant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4114800" cy="4434840"/>
          </a:xfrm>
          <a:prstGeom prst="roundRect">
            <a:avLst>
              <a:gd name="adj" fmla="val 2667"/>
            </a:avLst>
          </a:prstGeom>
          <a:solidFill>
            <a:srgbClr val="10263B"/>
          </a:solidFill>
          <a:ln w="9525">
            <a:solidFill>
              <a:srgbClr val="1026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9202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Regelinstanz.</a:t>
            </a:r>
            <a:endParaRPr lang="en-US" sz="2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Korrekte Physik.</a:t>
            </a:r>
            <a:endParaRPr lang="en-US" sz="2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Ruhige Zeitlogik.</a:t>
            </a:r>
            <a:endParaRPr lang="en-US" sz="2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FD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Transparente Diagnose.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5120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wichtigsten Prinzipien der finalen Lösung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64592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0" y="2029968"/>
            <a:ext cx="603504" cy="603504"/>
          </a:xfrm>
          <a:prstGeom prst="ellipse">
            <a:avLst/>
          </a:prstGeom>
          <a:solidFill>
            <a:srgbClr val="1F6FB2"/>
          </a:solidFill>
          <a:ln w="6350">
            <a:solidFill>
              <a:srgbClr val="1F6FB2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411" y="2162739"/>
            <a:ext cx="337962" cy="33796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897880" y="19019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Stabile PV-Regelung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897880" y="226771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60 · Hoch 60 · Runter 30 · Stopp 120 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321040" y="164592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03920" y="2029968"/>
            <a:ext cx="603504" cy="603504"/>
          </a:xfrm>
          <a:prstGeom prst="ellipse">
            <a:avLst/>
          </a:prstGeom>
          <a:solidFill>
            <a:srgbClr val="1F6FB2"/>
          </a:solidFill>
          <a:ln w="6350">
            <a:solidFill>
              <a:srgbClr val="1F6FB2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691" y="2162739"/>
            <a:ext cx="337962" cy="33796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281160" y="19019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Nachvollziehbar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9281160" y="226771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Diagnose-Sensoren und AC-Ladekurve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937760" y="3163824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120640" y="3547872"/>
            <a:ext cx="603504" cy="603504"/>
          </a:xfrm>
          <a:prstGeom prst="ellipse">
            <a:avLst/>
          </a:prstGeom>
          <a:solidFill>
            <a:srgbClr val="E8A800"/>
          </a:solidFill>
          <a:ln w="6350">
            <a:solidFill>
              <a:srgbClr val="E8A800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3411" y="3680643"/>
            <a:ext cx="337962" cy="33796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897880" y="34198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Flexibel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5897880" y="378561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Schwellen, Sofortladen, PV-Pause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321040" y="3163824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503920" y="3547872"/>
            <a:ext cx="603504" cy="603504"/>
          </a:xfrm>
          <a:prstGeom prst="ellipse">
            <a:avLst/>
          </a:prstGeom>
          <a:solidFill>
            <a:srgbClr val="1F6FB2"/>
          </a:solidFill>
          <a:ln w="6350">
            <a:solidFill>
              <a:srgbClr val="1F6FB2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691" y="3680643"/>
            <a:ext cx="337962" cy="33796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81160" y="34198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Logging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9281160" y="378561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Entscheidung mit Messwerten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4937760" y="4681728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120640" y="5065776"/>
            <a:ext cx="603504" cy="603504"/>
          </a:xfrm>
          <a:prstGeom prst="ellipse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3411" y="5198547"/>
            <a:ext cx="337962" cy="33796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89788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Ladeannahme-Erkennung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5897880" y="5303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90-s-Test, Sperre bis zum Abstecken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321040" y="4681728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F3F6F9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503920" y="5065776"/>
            <a:ext cx="603504" cy="603504"/>
          </a:xfrm>
          <a:prstGeom prst="ellipse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6691" y="5198547"/>
            <a:ext cx="337962" cy="33796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28116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Vorbereitet für mehr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9281160" y="5303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 z. B.: Neubewertung nach HA-Neustart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ich beim nächsten Projekt anders machen würde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03120" cy="4069080"/>
          </a:xfrm>
          <a:prstGeom prst="roundRect">
            <a:avLst>
              <a:gd name="adj" fmla="val 5217"/>
            </a:avLst>
          </a:prstGeom>
          <a:solidFill>
            <a:srgbClr val="1B3A55"/>
          </a:solidFill>
          <a:ln w="9525">
            <a:solidFill>
              <a:srgbClr val="1B3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D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874520" y="2103120"/>
            <a:ext cx="548640" cy="548640"/>
          </a:xfrm>
          <a:prstGeom prst="ellipse">
            <a:avLst/>
          </a:prstGeom>
          <a:solidFill>
            <a:srgbClr val="1F6FB2"/>
          </a:solidFill>
          <a:ln w="6350">
            <a:solidFill>
              <a:srgbClr val="1F6FB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221" y="22238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301752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Diagnose-Sensoren früher bauen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1605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Überschuss, Zielstrom und Sollstrom sichtbar, bevor geregelt wird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795778" y="1828800"/>
            <a:ext cx="2103120" cy="4069080"/>
          </a:xfrm>
          <a:prstGeom prst="roundRect">
            <a:avLst>
              <a:gd name="adj" fmla="val 5217"/>
            </a:avLst>
          </a:prstGeom>
          <a:solidFill>
            <a:srgbClr val="1B3A55"/>
          </a:solidFill>
          <a:ln w="9525">
            <a:solidFill>
              <a:srgbClr val="1B3A5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24378" y="2057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D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4121658" y="2103120"/>
            <a:ext cx="548640" cy="548640"/>
          </a:xfrm>
          <a:prstGeom prst="ellipse">
            <a:avLst/>
          </a:prstGeom>
          <a:solidFill>
            <a:srgbClr val="1F6FB2"/>
          </a:solidFill>
          <a:ln w="6350">
            <a:solidFill>
              <a:srgbClr val="1F6FB2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359" y="222382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024378" y="301752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von Anfang an aktivieren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024378" y="41605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Zeitstempel und Messwerte statt Raten bei der Fehlersuche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42916" y="1828800"/>
            <a:ext cx="2103120" cy="4069080"/>
          </a:xfrm>
          <a:prstGeom prst="roundRect">
            <a:avLst>
              <a:gd name="adj" fmla="val 5217"/>
            </a:avLst>
          </a:prstGeom>
          <a:solidFill>
            <a:srgbClr val="1B3A55"/>
          </a:solidFill>
          <a:ln w="9525">
            <a:solidFill>
              <a:srgbClr val="1B3A5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271516" y="2057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D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Shape 14"/>
          <p:cNvSpPr/>
          <p:nvPr/>
        </p:nvSpPr>
        <p:spPr>
          <a:xfrm>
            <a:off x="6368796" y="2103120"/>
            <a:ext cx="548640" cy="548640"/>
          </a:xfrm>
          <a:prstGeom prst="ellipse">
            <a:avLst/>
          </a:prstGeom>
          <a:solidFill>
            <a:srgbClr val="E8A800"/>
          </a:solidFill>
          <a:ln w="6350">
            <a:solidFill>
              <a:srgbClr val="E8A800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9497" y="222382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71516" y="301752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Physikalische Formel zuerst validieren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5271516" y="41605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B. ÷ 690 statt ÷ 230 – vor der ersten Automation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290054" y="1828800"/>
            <a:ext cx="2103120" cy="4069080"/>
          </a:xfrm>
          <a:prstGeom prst="roundRect">
            <a:avLst>
              <a:gd name="adj" fmla="val 5217"/>
            </a:avLst>
          </a:prstGeom>
          <a:solidFill>
            <a:srgbClr val="1B3A55"/>
          </a:solidFill>
          <a:ln w="9525">
            <a:solidFill>
              <a:srgbClr val="1B3A55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518654" y="2057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D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4" name="Shape 19"/>
          <p:cNvSpPr/>
          <p:nvPr/>
        </p:nvSpPr>
        <p:spPr>
          <a:xfrm>
            <a:off x="8615934" y="2103120"/>
            <a:ext cx="548640" cy="548640"/>
          </a:xfrm>
          <a:prstGeom prst="ellipse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6635" y="2223821"/>
            <a:ext cx="307238" cy="30723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518654" y="301752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Regelhoheit früh festlegen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7518654" y="41605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führende Instanz, bevor zwei Regler kollidieren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9537192" y="1828800"/>
            <a:ext cx="2103120" cy="4069080"/>
          </a:xfrm>
          <a:prstGeom prst="roundRect">
            <a:avLst>
              <a:gd name="adj" fmla="val 5217"/>
            </a:avLst>
          </a:prstGeom>
          <a:solidFill>
            <a:srgbClr val="1B3A55"/>
          </a:solidFill>
          <a:ln w="9525">
            <a:solidFill>
              <a:srgbClr val="1B3A55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9765792" y="2057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D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30" name="Shape 24"/>
          <p:cNvSpPr/>
          <p:nvPr/>
        </p:nvSpPr>
        <p:spPr>
          <a:xfrm>
            <a:off x="10863072" y="2103120"/>
            <a:ext cx="548640" cy="548640"/>
          </a:xfrm>
          <a:prstGeom prst="ellipse">
            <a:avLst/>
          </a:prstGeom>
          <a:solidFill>
            <a:srgbClr val="2E9E5B"/>
          </a:solidFill>
          <a:ln w="6350">
            <a:solidFill>
              <a:srgbClr val="2E9E5B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3773" y="2223821"/>
            <a:ext cx="307238" cy="307238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765792" y="301752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Neustartverhalten direkt mitdenken</a:t>
            </a:r>
            <a:endParaRPr lang="en-US" sz="1700" dirty="0"/>
          </a:p>
        </p:txBody>
      </p:sp>
      <p:sp>
        <p:nvSpPr>
          <p:cNvPr id="33" name="Text 26"/>
          <p:cNvSpPr txBox="1"/>
          <p:nvPr/>
        </p:nvSpPr>
        <p:spPr>
          <a:xfrm>
            <a:off x="9765792" y="41605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Startbedingungen nach HA-Start neu bewerten</a:t>
            </a:r>
            <a:endParaRPr lang="en-US" sz="1250" dirty="0"/>
          </a:p>
        </p:txBody>
      </p:sp>
      <p:sp>
        <p:nvSpPr>
          <p:cNvPr id="34" name="Text 27"/>
          <p:cNvSpPr txBox="1"/>
          <p:nvPr/>
        </p:nvSpPr>
        <p:spPr>
          <a:xfrm>
            <a:off x="54864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Erläuterungen unter den Titeln: eigene Konkretisierung (Interpretation)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2863</Words>
  <Application>Microsoft Office PowerPoint</Application>
  <PresentationFormat>Breitbild</PresentationFormat>
  <Paragraphs>540</Paragraphs>
  <Slides>17</Slides>
  <Notes>17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PV-Überschussladen mit Home Assistant</dc:title>
  <dc:subject>PptxGenJS Presentation</dc:subject>
  <dc:creator>PptxGenJS</dc:creator>
  <cp:lastModifiedBy>Fabrizio Calcagno</cp:lastModifiedBy>
  <cp:revision>1</cp:revision>
  <dcterms:created xsi:type="dcterms:W3CDTF">2026-09-15T14:00:08Z</dcterms:created>
  <dcterms:modified xsi:type="dcterms:W3CDTF">2026-09-15T14:30:21Z</dcterms:modified>
</cp:coreProperties>
</file>